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61" r:id="rId4"/>
    <p:sldId id="262" r:id="rId5"/>
    <p:sldId id="265" r:id="rId6"/>
    <p:sldId id="267" r:id="rId7"/>
    <p:sldId id="269" r:id="rId8"/>
    <p:sldId id="271" r:id="rId9"/>
    <p:sldId id="274" r:id="rId10"/>
    <p:sldId id="275" r:id="rId11"/>
    <p:sldId id="276" r:id="rId12"/>
    <p:sldId id="296" r:id="rId13"/>
    <p:sldId id="278" r:id="rId14"/>
    <p:sldId id="279" r:id="rId15"/>
    <p:sldId id="280" r:id="rId16"/>
    <p:sldId id="28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B"/>
    <a:srgbClr val="1A2141"/>
    <a:srgbClr val="F3F4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78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400" b="1">
                <a:solidFill>
                  <a:srgbClr val="0F172A"/>
                </a:solidFill>
                <a:latin typeface="Malgun Gothic"/>
              </a:rPr>
              <a:t>SKALA  ·  웹 서비스 개발 Mini Project</a:t>
            </a:r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800" b="1">
                <a:solidFill>
                  <a:srgbClr val="0F172A"/>
                </a:solidFill>
                <a:latin typeface="Malgun Gothic"/>
              </a:rPr>
              <a:t>남이 차린 밥상</a:t>
            </a:r>
            <a:endParaRPr lang="en-US" sz="4800" dirty="0"/>
          </a:p>
          <a:p>
            <a:pPr algn="l"/>
            <a:r>
              <a:rPr sz="2600" b="1">
                <a:solidFill>
                  <a:srgbClr val="EA580C"/>
                </a:solidFill>
                <a:latin typeface="Malgun Gothic"/>
              </a:rPr>
              <a:t>(Nam-Bapsang)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2852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sz="1600" b="0">
                <a:solidFill>
                  <a:srgbClr val="2563EB"/>
                </a:solidFill>
                <a:latin typeface="Malgun Gothic"/>
              </a:rPr>
              <a:t>15분 맞춤형 OTT 플레이리스트 공유 및 실시간 소셜 시청 플랫폼</a:t>
            </a:r>
            <a:endParaRPr lang="en-US" sz="2600" dirty="0"/>
          </a:p>
          <a:p>
            <a:pPr algn="l"/>
            <a:r>
              <a:rPr sz="1350" b="1">
                <a:solidFill>
                  <a:srgbClr val="64748B"/>
                </a:solidFill>
                <a:latin typeface="Malgun Gothic"/>
              </a:rPr>
              <a:t>프로젝트 기술서  (요구사항 정의서 + 화면 설계서 통합본)</a:t>
            </a:r>
          </a:p>
        </p:txBody>
      </p:sp>
      <p:sp>
        <p:nvSpPr>
          <p:cNvPr id="18" name="Text 16"/>
          <p:cNvSpPr/>
          <p:nvPr/>
        </p:nvSpPr>
        <p:spPr>
          <a:xfrm>
            <a:off x="685800" y="5989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300" b="0">
                <a:solidFill>
                  <a:srgbClr val="64748B"/>
                </a:solidFill>
                <a:latin typeface="Malgun Gothic"/>
              </a:rPr>
              <a:t>작성자: 박세웅  |  2026.08  |  버전: v1.0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0180015" y="6601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pPr algn="l"/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1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79" y="1093124"/>
            <a:ext cx="11323015" cy="841248"/>
          </a:xfrm>
          <a:prstGeom prst="rect">
            <a:avLst/>
          </a:prstGeom>
          <a:solidFill>
            <a:srgbClr val="1B2142"/>
          </a:solidFill>
          <a:ln/>
        </p:spPr>
        <p:txBody>
          <a:bodyPr/>
          <a:lstStyle/>
          <a:p>
            <a:pPr algn="l"/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79" y="1495460"/>
            <a:ext cx="103715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기술서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79" y="2080676"/>
            <a:ext cx="11323015" cy="84124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pPr algn="l"/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79" y="2190404"/>
            <a:ext cx="103715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79" y="2483012"/>
            <a:ext cx="103715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기본 정보 · 개요 · 역할 · 흐름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79" y="3068228"/>
            <a:ext cx="11323015" cy="84124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pPr algn="l"/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79" y="3177956"/>
            <a:ext cx="103715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79" y="3470564"/>
            <a:ext cx="103715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350" b="0">
                <a:solidFill>
                  <a:srgbClr val="334155"/>
                </a:solidFill>
                <a:latin typeface="Malgun Gothic"/>
              </a:rPr>
              <a:t>요구사항 정의서  REQ-F-001~010, REQ-N-001~005</a:t>
            </a:r>
          </a:p>
        </p:txBody>
      </p:sp>
      <p:sp>
        <p:nvSpPr>
          <p:cNvPr id="13" name="Shape 11"/>
          <p:cNvSpPr/>
          <p:nvPr/>
        </p:nvSpPr>
        <p:spPr>
          <a:xfrm>
            <a:off x="411479" y="4055780"/>
            <a:ext cx="11323015" cy="84124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pPr algn="l"/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79" y="4165508"/>
            <a:ext cx="103715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79" y="4458116"/>
            <a:ext cx="103715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↔ 화면 추적성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79" y="5043332"/>
            <a:ext cx="11323015" cy="84124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pPr algn="l"/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79" y="5153060"/>
            <a:ext cx="103715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79" y="5445668"/>
            <a:ext cx="103715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</a:t>
            </a:r>
            <a:r>
              <a:rPr lang="en-US" sz="1350" b="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설계서</a:t>
            </a:r>
            <a:r>
              <a:rPr lang="en-US" sz="1350" b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altLang="ko-KR" sz="1350" b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r>
              <a:rPr lang="en-US" sz="1350" b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와이어프레임 · 디스크립션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142"/>
          </a:solidFill>
          <a:ln/>
        </p:spPr>
        <p:txBody>
          <a:bodyPr/>
          <a:lstStyle/>
          <a:p>
            <a:pPr algn="l"/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11480" y="6601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차린 밥상 산출물  ·  웹 서비스 개발 Mini Project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180015" y="6601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1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5623560" cy="2286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62356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algun Gothic"/>
              </a:rPr>
              <a:t>현대인의 혼밥 식사 시간(10~15분)에 딱 맞는 맞춤형 OTT 영상 큐레이션 및 방장-참가자 간 100% 재생 동기화 라이브 소셜 합석 시청 플랫폼 구축</a:t>
            </a:r>
          </a:p>
        </p:txBody>
      </p:sp>
      <p:sp>
        <p:nvSpPr>
          <p:cNvPr id="9" name="Shape 7"/>
          <p:cNvSpPr/>
          <p:nvPr/>
        </p:nvSpPr>
        <p:spPr>
          <a:xfrm>
            <a:off x="6263640" y="1051560"/>
            <a:ext cx="5623560" cy="2286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263640" y="1051560"/>
            <a:ext cx="5623560" cy="731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537960" y="13258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87452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algun Gothic"/>
              </a:rPr>
              <a:t>JWT 기반 권한 인증, 5분/15분/20분+ 식사시간 태깅, 유튜브 실시간 키워드 검색, 라이브 방 개설 &amp; 방장(👑 Host) 권한 보존, 100% 재생 타임스탬프 동기화, 초경량 실시간 채팅 복원, 내 보관함 동시 삭제, 👑 마스터 관리자 전체 멸실 권한</a:t>
            </a:r>
          </a:p>
        </p:txBody>
      </p:sp>
      <p:sp>
        <p:nvSpPr>
          <p:cNvPr id="13" name="Shape 11"/>
          <p:cNvSpPr/>
          <p:nvPr/>
        </p:nvSpPr>
        <p:spPr>
          <a:xfrm>
            <a:off x="411480" y="3520440"/>
            <a:ext cx="5623560" cy="2286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11480" y="3520440"/>
            <a:ext cx="5623560" cy="73152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379476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" y="434340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algun Gothic"/>
              </a:rPr>
              <a:t>불필요한 더미 방 자동 생성 제외 (실사용자 개설 방 중심), 서버 네트워크 과부하를 유발하는 고용량 동영상 직접 업로드 방식 배제 (외부 공식 플레이어 임베드 및 딥링크 라우팅)</a:t>
            </a:r>
          </a:p>
        </p:txBody>
      </p:sp>
      <p:sp>
        <p:nvSpPr>
          <p:cNvPr id="17" name="Shape 15"/>
          <p:cNvSpPr/>
          <p:nvPr/>
        </p:nvSpPr>
        <p:spPr>
          <a:xfrm>
            <a:off x="6263640" y="3520440"/>
            <a:ext cx="5623560" cy="2286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263640" y="3520440"/>
            <a:ext cx="5623560" cy="7315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37960" y="379476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4340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algun Gothic"/>
              </a:rPr>
              <a:t>방장 시청 경과시간(SYNC_VIDEO_STATE) 100% 실시간 구간 점프 동기화, 유튜브 0.3초 초고속 HTML JSON 파서, PresenceManager 실시간 합석자 집계, 👑 마스터 관리자 원터치 전체 삭제 권한</a:t>
            </a:r>
          </a:p>
        </p:txBody>
      </p:sp>
      <p:sp>
        <p:nvSpPr>
          <p:cNvPr id="21" name="Shap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1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11480" y="6601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차린 밥상 산출물  ·  웹 서비스 개발 Mini Project</a:t>
            </a:r>
            <a:endParaRPr lang="en-US" sz="10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A6937E64-BDD3-0410-563F-58C3513288AB}"/>
              </a:ext>
            </a:extLst>
          </p:cNvPr>
          <p:cNvSpPr/>
          <p:nvPr/>
        </p:nvSpPr>
        <p:spPr>
          <a:xfrm>
            <a:off x="10180015" y="6601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3</a:t>
            </a:r>
            <a:r>
              <a:rPr lang="ko-KR" alt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1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역할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816352" cy="5074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비회원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100" b="0" dirty="0" err="1">
                <a:solidFill>
                  <a:srgbClr val="334155"/>
                </a:solidFill>
                <a:latin typeface="Malgun Gothic"/>
              </a:rPr>
              <a:t>메인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밥상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피드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뷰어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, 5분/15분/20분+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식사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시간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큐레이션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탐색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및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영상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시청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.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라이브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방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열기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/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반찬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차리기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클릭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시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로그인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모달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오픈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.</a:t>
            </a:r>
          </a:p>
        </p:txBody>
      </p:sp>
      <p:sp>
        <p:nvSpPr>
          <p:cNvPr id="9" name="Shape 7"/>
          <p:cNvSpPr/>
          <p:nvPr/>
        </p:nvSpPr>
        <p:spPr>
          <a:xfrm>
            <a:off x="3310128" y="1097280"/>
            <a:ext cx="2816352" cy="5074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493008" y="1325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93008" y="1874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93008" y="274320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100" b="0" dirty="0" err="1">
                <a:solidFill>
                  <a:srgbClr val="334155"/>
                </a:solidFill>
                <a:latin typeface="Malgun Gothic"/>
              </a:rPr>
              <a:t>나만의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15분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밥상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차리기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,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유튜브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실시간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키워드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직접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검색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,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라이브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밥상방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개설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및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방장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(👑 Host)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영구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권한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,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실시간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합석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채팅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,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내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보관함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관리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및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본인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밥상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삭제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.</a:t>
            </a:r>
          </a:p>
        </p:txBody>
      </p:sp>
      <p:sp>
        <p:nvSpPr>
          <p:cNvPr id="13" name="Shape 11"/>
          <p:cNvSpPr/>
          <p:nvPr/>
        </p:nvSpPr>
        <p:spPr>
          <a:xfrm>
            <a:off x="6254496" y="1097280"/>
            <a:ext cx="2816352" cy="5074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37376" y="1325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37376" y="1874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500" b="1" dirty="0">
                <a:solidFill>
                  <a:srgbClr val="EA580C"/>
                </a:solidFill>
                <a:latin typeface="Malgun Gothic"/>
              </a:rPr>
              <a:t>MASTER (👑 </a:t>
            </a:r>
            <a:r>
              <a:rPr sz="1500" b="1" dirty="0" err="1">
                <a:solidFill>
                  <a:srgbClr val="EA580C"/>
                </a:solidFill>
                <a:latin typeface="Malgun Gothic"/>
              </a:rPr>
              <a:t>마스터</a:t>
            </a:r>
            <a:r>
              <a:rPr sz="1500" b="1" dirty="0">
                <a:solidFill>
                  <a:srgbClr val="EA580C"/>
                </a:solidFill>
                <a:latin typeface="Malgun Gothic"/>
              </a:rPr>
              <a:t> </a:t>
            </a:r>
            <a:r>
              <a:rPr sz="1500" b="1" dirty="0" err="1">
                <a:solidFill>
                  <a:srgbClr val="EA580C"/>
                </a:solidFill>
                <a:latin typeface="Malgun Gothic"/>
              </a:rPr>
              <a:t>관리자</a:t>
            </a:r>
            <a:r>
              <a:rPr sz="1500" b="1" dirty="0">
                <a:solidFill>
                  <a:srgbClr val="EA580C"/>
                </a:solidFill>
                <a:latin typeface="Malgun Gothic"/>
              </a:rPr>
              <a:t>)</a:t>
            </a:r>
          </a:p>
        </p:txBody>
      </p:sp>
      <p:sp>
        <p:nvSpPr>
          <p:cNvPr id="16" name="Text 14"/>
          <p:cNvSpPr/>
          <p:nvPr/>
        </p:nvSpPr>
        <p:spPr>
          <a:xfrm>
            <a:off x="6437376" y="274320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100" b="0" dirty="0" err="1">
                <a:solidFill>
                  <a:srgbClr val="334155"/>
                </a:solidFill>
                <a:latin typeface="Malgun Gothic"/>
              </a:rPr>
              <a:t>일반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회원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기능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전체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+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모든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유저의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밥상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및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라이브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방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카드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원터치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영구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삭제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,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실시간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합석방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모니터링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및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부적절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콘텐츠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멸실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334155"/>
                </a:solidFill>
                <a:latin typeface="Malgun Gothic"/>
              </a:rPr>
              <a:t>관리</a:t>
            </a:r>
            <a:r>
              <a:rPr sz="1100" b="0" dirty="0">
                <a:solidFill>
                  <a:srgbClr val="334155"/>
                </a:solidFill>
                <a:latin typeface="Malgun Gothic"/>
              </a:rPr>
              <a:t>.</a:t>
            </a:r>
          </a:p>
        </p:txBody>
      </p:sp>
      <p:sp>
        <p:nvSpPr>
          <p:cNvPr id="21" name="Shap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1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11480" y="6601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차린 밥상 산출물  ·  웹 서비스 개발 Mini Project</a:t>
            </a:r>
            <a:endParaRPr lang="en-US" sz="10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F4C038FB-0CEB-E61D-BF0C-5065677533CF}"/>
              </a:ext>
            </a:extLst>
          </p:cNvPr>
          <p:cNvSpPr/>
          <p:nvPr/>
        </p:nvSpPr>
        <p:spPr>
          <a:xfrm>
            <a:off x="10180015" y="6601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5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</a:rPr>
              <a:t>4</a:t>
            </a:r>
            <a:r>
              <a:rPr lang="ko-KR" altLang="en-US" sz="15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5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5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5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17500" y="203200"/>
            <a:ext cx="1133856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기능 요구사항  ·  인증 및 영상 수집</a:t>
            </a:r>
          </a:p>
        </p:txBody>
      </p:sp>
      <p:sp>
        <p:nvSpPr>
          <p:cNvPr id="4" name="Text 2"/>
          <p:cNvSpPr/>
          <p:nvPr/>
        </p:nvSpPr>
        <p:spPr>
          <a:xfrm>
            <a:off x="317500" y="546100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0">
                <a:solidFill>
                  <a:srgbClr val="2563EB"/>
                </a:solidFill>
                <a:latin typeface="Malgun Gothic"/>
              </a:rPr>
              <a:t>REQ-F-001 ~ REQ-F-003</a:t>
            </a: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439764"/>
              </p:ext>
            </p:extLst>
          </p:nvPr>
        </p:nvGraphicFramePr>
        <p:xfrm>
          <a:off x="279400" y="812800"/>
          <a:ext cx="11557000" cy="2004632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요구사항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Malgun Gothic"/>
                        </a:rPr>
                        <a:t> ID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대분류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중분류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요구사항명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상세 요구사항 내용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중요도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난이도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비고 / 제약사항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관련 화면 ID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REQ-F-001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회원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인증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0F172A"/>
                          </a:solidFill>
                          <a:latin typeface="Malgun Gothic"/>
                        </a:rPr>
                        <a:t>이메일 회원가입 및 로그인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JWT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기반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이메일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/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비밀번호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인증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.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마스터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(Role: Master)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및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일반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(Role: User)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권한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분리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2563EB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Passlib Bcrypt 암호화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2563EB"/>
                          </a:solidFill>
                          <a:latin typeface="Malgun Gothic"/>
                        </a:rPr>
                        <a:t>SCR-AUTH-001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0F172A"/>
                          </a:solidFill>
                          <a:latin typeface="Malgun Gothic"/>
                        </a:rPr>
                        <a:t>REQ-F-002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영상수집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직접검색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유튜브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실시간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키워드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검색</a:t>
                      </a:r>
                      <a:endParaRPr sz="850" b="1" dirty="0">
                        <a:solidFill>
                          <a:srgbClr val="0F172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검색창에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키워드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(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성시경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등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)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입력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0.3초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초고속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파이프라인으로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썸네일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/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러닝타임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카드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8건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추출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EA580C"/>
                          </a:solidFill>
                          <a:latin typeface="Malgun Gothic"/>
                        </a:rPr>
                        <a:t>상</a:t>
                      </a:r>
                      <a:endParaRPr sz="850" b="1" dirty="0">
                        <a:solidFill>
                          <a:srgbClr val="EA580C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8건 실시간 파싱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2563EB"/>
                          </a:solidFill>
                          <a:latin typeface="Malgun Gothic"/>
                        </a:rPr>
                        <a:t>SCR-CREATE-001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0F172A"/>
                          </a:solidFill>
                          <a:latin typeface="Malgun Gothic"/>
                        </a:rPr>
                        <a:t>REQ-F-003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영상수집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파싱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OTT/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유튜브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URL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파싱</a:t>
                      </a:r>
                      <a:endParaRPr sz="850" b="1" dirty="0">
                        <a:solidFill>
                          <a:srgbClr val="0F172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유튜브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/OTT URL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입력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비디오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ID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추출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및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러닝타임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계산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후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5분/15분/20분+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식사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컷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자동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태깅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2563EB"/>
                          </a:solidFill>
                          <a:latin typeface="Malgun Gothic"/>
                        </a:rPr>
                        <a:t>중</a:t>
                      </a:r>
                      <a:endParaRPr sz="850" b="1" dirty="0">
                        <a:solidFill>
                          <a:srgbClr val="2563EB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yt-dlp 파이프라인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2563EB"/>
                          </a:solidFill>
                          <a:latin typeface="Malgun Gothic"/>
                        </a:rPr>
                        <a:t>SCR-CREATE-001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REQ-F-004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로그인·로그아웃</a:t>
                      </a:r>
                      <a:endParaRPr lang="en-US" sz="85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JWT access token 발급. LocalStorage 보관, Bearer 전송, 로그아웃 시 삭제.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A58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</a:t>
                      </a:r>
                      <a:endParaRPr lang="en-US" sz="85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</a:t>
                      </a:r>
                      <a:endParaRPr lang="en-US" sz="85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 1800초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SCR-AUTH-001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REQ-F-005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역할·소유권 인가</a:t>
                      </a:r>
                      <a:endParaRPr lang="en-US" sz="85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USER/ADMIN/SUPER_ADMIN과 작성자 소유권으로 API를 통제한다.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A58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</a:t>
                      </a:r>
                      <a:endParaRPr lang="en-US" sz="85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</a:t>
                      </a:r>
                      <a:endParaRPr lang="en-US" sz="85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DB의 현재 role 사용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보호 화면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11480" y="6601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차린 밥상 산출물  ·  웹 서비스 개발 Mini Project</a:t>
            </a:r>
            <a:endParaRPr lang="en-US" sz="10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98C046B5-08DE-DF77-4A78-1BD694794E34}"/>
              </a:ext>
            </a:extLst>
          </p:cNvPr>
          <p:cNvSpPr/>
          <p:nvPr/>
        </p:nvSpPr>
        <p:spPr>
          <a:xfrm>
            <a:off x="317500" y="3200400"/>
            <a:ext cx="113385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기능 요구사항  ·  라이브 합석 및 권한 보존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B7FB168E-C2E7-7C34-9E1C-95BC7CD696A4}"/>
              </a:ext>
            </a:extLst>
          </p:cNvPr>
          <p:cNvSpPr/>
          <p:nvPr/>
        </p:nvSpPr>
        <p:spPr>
          <a:xfrm>
            <a:off x="317500" y="3530600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0">
                <a:solidFill>
                  <a:srgbClr val="2563EB"/>
                </a:solidFill>
                <a:latin typeface="Malgun Gothic"/>
              </a:rPr>
              <a:t>REQ-F-004 ~ REQ-F-005</a:t>
            </a:r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4B469F55-0977-F066-9514-A5C6382009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755781"/>
              </p:ext>
            </p:extLst>
          </p:nvPr>
        </p:nvGraphicFramePr>
        <p:xfrm>
          <a:off x="279400" y="3810000"/>
          <a:ext cx="11557000" cy="1308926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요구사항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Malgun Gothic"/>
                        </a:rPr>
                        <a:t> ID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대분류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중분류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요구사항명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상세 요구사항 내용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중요도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난이도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비고 / 제약사항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관련 화면 ID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REQ-F-004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라이브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방개설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실시간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라이브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밥상방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생성</a:t>
                      </a:r>
                      <a:endParaRPr sz="850" b="1" dirty="0">
                        <a:solidFill>
                          <a:srgbClr val="0F172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사용자가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[🔴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라이브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방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열기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]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버튼을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눌러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실시간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합석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밥상방을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즉시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개설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2563EB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더미 방 자동 생성 제외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2563EB"/>
                          </a:solidFill>
                          <a:latin typeface="Malgun Gothic"/>
                        </a:rPr>
                        <a:t>SCR-MAIN-001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0F172A"/>
                          </a:solidFill>
                          <a:latin typeface="Malgun Gothic"/>
                        </a:rPr>
                        <a:t>REQ-F-005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라이브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권한보존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방장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(Host)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권한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영구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보존</a:t>
                      </a:r>
                      <a:endParaRPr sz="850" b="1" dirty="0">
                        <a:solidFill>
                          <a:srgbClr val="0F172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라이브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방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개설자는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방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퇴장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,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재입장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,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새로고침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시에도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방장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(👑)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권한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(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my_host_room_ids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) 100%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유지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2563EB"/>
                          </a:solidFill>
                          <a:latin typeface="Malgun Gothic"/>
                        </a:rPr>
                        <a:t>중</a:t>
                      </a:r>
                      <a:endParaRPr sz="850" b="1" dirty="0">
                        <a:solidFill>
                          <a:srgbClr val="2563EB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LocalStorage+Session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2563EB"/>
                          </a:solidFill>
                          <a:latin typeface="Malgun Gothic"/>
                        </a:rPr>
                        <a:t>SCR-LIVE-001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REQ-F-008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BEST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BEST 확정 이력</a:t>
                      </a:r>
                      <a:endParaRPr lang="en-US" sz="85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5번째 추천 시각을 한 번 저장하고 이후 추천 수와 무관하게 이력을 유지한다.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A58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</a:t>
                      </a:r>
                      <a:endParaRPr lang="en-US" sz="85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</a:t>
                      </a:r>
                      <a:endParaRPr lang="en-US" sz="85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최초 기록만 유지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SCR-MAIN-001, SCR-QST-001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2">
            <a:extLst>
              <a:ext uri="{FF2B5EF4-FFF2-40B4-BE49-F238E27FC236}">
                <a16:creationId xmlns:a16="http://schemas.microsoft.com/office/drawing/2014/main" id="{7D5C9CF8-1A67-109E-DF59-1B9DEE51735F}"/>
              </a:ext>
            </a:extLst>
          </p:cNvPr>
          <p:cNvSpPr/>
          <p:nvPr/>
        </p:nvSpPr>
        <p:spPr>
          <a:xfrm>
            <a:off x="10180015" y="6601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5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17500" y="203200"/>
            <a:ext cx="1133856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기능 요구사항  ·  동기화 및 실시간 채팅</a:t>
            </a:r>
          </a:p>
        </p:txBody>
      </p:sp>
      <p:sp>
        <p:nvSpPr>
          <p:cNvPr id="4" name="Text 2"/>
          <p:cNvSpPr/>
          <p:nvPr/>
        </p:nvSpPr>
        <p:spPr>
          <a:xfrm>
            <a:off x="317500" y="546100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0">
                <a:solidFill>
                  <a:srgbClr val="2563EB"/>
                </a:solidFill>
                <a:latin typeface="Malgun Gothic"/>
              </a:rPr>
              <a:t>REQ-F-006 ~ REQ-F-007</a:t>
            </a: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581506"/>
              </p:ext>
            </p:extLst>
          </p:nvPr>
        </p:nvGraphicFramePr>
        <p:xfrm>
          <a:off x="279400" y="812800"/>
          <a:ext cx="11557000" cy="1834199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요구사항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Malgun Gothic"/>
                        </a:rPr>
                        <a:t> ID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대분류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중분류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요구사항명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상세 요구사항 내용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중요도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난이도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비고 / 제약사항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관련 화면 ID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REQ-F-006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라이브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재생동기화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100%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비디오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재생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타임스탬프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동기화</a:t>
                      </a:r>
                      <a:endParaRPr sz="850" b="1" dirty="0">
                        <a:solidFill>
                          <a:srgbClr val="0F172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방장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리드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영상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교체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&amp;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중간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입장자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경과시간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(SYNC_VIDEO_STATE)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위치로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자동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타임스탬프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점프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EA580C"/>
                          </a:solidFill>
                          <a:latin typeface="Malgun Gothic"/>
                        </a:rPr>
                        <a:t>상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start=180s 자동 이동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2563EB"/>
                          </a:solidFill>
                          <a:latin typeface="Malgun Gothic"/>
                        </a:rPr>
                        <a:t>SCR-LIVE-001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0F172A"/>
                          </a:solidFill>
                          <a:latin typeface="Malgun Gothic"/>
                        </a:rPr>
                        <a:t>REQ-F-007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라이브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실시간채팅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실시간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합석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대화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및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대화이력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보존</a:t>
                      </a:r>
                      <a:endParaRPr sz="850" b="1" dirty="0">
                        <a:solidFill>
                          <a:srgbClr val="0F172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WebSocket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기반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실시간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채팅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.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서버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50개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인메모리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버퍼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+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클라이언트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LocalStorage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이중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보존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2563EB"/>
                          </a:solidFill>
                          <a:latin typeface="Malgun Gothic"/>
                        </a:rPr>
                        <a:t>중</a:t>
                      </a:r>
                      <a:endParaRPr sz="850" b="1" dirty="0">
                        <a:solidFill>
                          <a:srgbClr val="2563EB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최근 50개 대화 복원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2563EB"/>
                          </a:solidFill>
                          <a:latin typeface="Malgun Gothic"/>
                        </a:rPr>
                        <a:t>SCR-LIVE-001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REQ-F-011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상세</a:t>
                      </a:r>
                      <a:endParaRPr lang="en-US" sz="85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질문·답변·통계 조회. 요청마다 조회수 +1. 채택 답변은 맨 앞.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A58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</a:t>
                      </a:r>
                      <a:endParaRPr lang="en-US" sz="85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</a:t>
                      </a:r>
                      <a:endParaRPr lang="en-US" sz="85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HIDDEN/DELETED는 404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SCR-QST-002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REQ-F-012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작성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작성</a:t>
                      </a:r>
                      <a:endParaRPr lang="en-US" sz="85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제목, 본문, 카테고리, 익명으로 질문을 작성한다. 코드 블록 버튼 제공.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A58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</a:t>
                      </a:r>
                      <a:endParaRPr lang="en-US" sz="85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</a:t>
                      </a:r>
                      <a:endParaRPr lang="en-US" sz="85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카테고리는 목록 문맥 고정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SCR-QST-003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REQ-F-013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수정·삭제</a:t>
                      </a:r>
                      <a:endParaRPr lang="en-US" sz="85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작성자 또는 ADMIN만 수정하거나 soft delete한다.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A58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</a:t>
                      </a:r>
                      <a:endParaRPr lang="en-US" sz="85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</a:t>
                      </a:r>
                      <a:endParaRPr lang="en-US" sz="85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확인 팝업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SCR-QST-002, SCR-QST-004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11480" y="6601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차린 밥상 산출물  ·  웹 서비스 개발 Mini Project</a:t>
            </a:r>
            <a:endParaRPr lang="en-US" sz="1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2C1CDDE-3604-D65B-A32A-5E955614DA24}"/>
              </a:ext>
            </a:extLst>
          </p:cNvPr>
          <p:cNvSpPr/>
          <p:nvPr/>
        </p:nvSpPr>
        <p:spPr>
          <a:xfrm>
            <a:off x="317500" y="3200400"/>
            <a:ext cx="113385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기능 요구사항  ·  시청자 집계 및 관리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FABEA862-2077-99A5-2C83-CABDE8D8AD39}"/>
              </a:ext>
            </a:extLst>
          </p:cNvPr>
          <p:cNvSpPr/>
          <p:nvPr/>
        </p:nvSpPr>
        <p:spPr>
          <a:xfrm>
            <a:off x="317500" y="3530600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0">
                <a:solidFill>
                  <a:srgbClr val="2563EB"/>
                </a:solidFill>
                <a:latin typeface="Malgun Gothic"/>
              </a:rPr>
              <a:t>REQ-F-008 ~ REQ-F-010</a:t>
            </a: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183BE875-0BD6-6BE8-E1CA-B7DA428BDC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055210"/>
              </p:ext>
            </p:extLst>
          </p:nvPr>
        </p:nvGraphicFramePr>
        <p:xfrm>
          <a:off x="279400" y="3810000"/>
          <a:ext cx="11557000" cy="1653605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53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6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요구사항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Malgun Gothic"/>
                        </a:rPr>
                        <a:t> ID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대분류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중분류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요구사항명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상세 요구사항 내용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중요도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난이도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비고 / 제약사항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관련 화면 ID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REQ-F-008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라이브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시청자집계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동시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시청자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수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측정</a:t>
                      </a:r>
                      <a:endParaRPr sz="850" b="1" dirty="0">
                        <a:solidFill>
                          <a:srgbClr val="0F172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WebSocket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활성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세션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(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PresenceManager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)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기준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100%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정확한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합석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시청자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수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카운팅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및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표기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2563EB"/>
                          </a:solidFill>
                          <a:latin typeface="Malgun Gothic"/>
                        </a:rPr>
                        <a:t>Medium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2563EB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🟢 N명 함께 합석 중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2563EB"/>
                          </a:solidFill>
                          <a:latin typeface="Malgun Gothic"/>
                        </a:rPr>
                        <a:t>SCR-LIVE-001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0F172A"/>
                          </a:solidFill>
                          <a:latin typeface="Malgun Gothic"/>
                        </a:rPr>
                        <a:t>REQ-F-009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보관함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마이페이지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내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보관함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및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라이브방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삭제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연동</a:t>
                      </a:r>
                      <a:endParaRPr sz="850" b="1" dirty="0">
                        <a:solidFill>
                          <a:srgbClr val="0F172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개설한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라이브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방이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내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보관함에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자동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등록되며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,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삭제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내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보관함과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피드에서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동시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완전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제거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2563EB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이중 완벽 삭제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2563EB"/>
                          </a:solidFill>
                          <a:latin typeface="Malgun Gothic"/>
                        </a:rPr>
                        <a:t>SCR-MY-001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0F172A"/>
                          </a:solidFill>
                          <a:latin typeface="Malgun Gothic"/>
                        </a:rPr>
                        <a:t>REQ-F-010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관리자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권한관리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마스터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관리자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전체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삭제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권한</a:t>
                      </a:r>
                      <a:endParaRPr sz="850" b="1" dirty="0">
                        <a:solidFill>
                          <a:srgbClr val="0F172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👑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마스터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계정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(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master@bapsang.com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)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은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모든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유저의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밥상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및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라이브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방을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삭제할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수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있음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2563EB"/>
                          </a:solidFill>
                          <a:latin typeface="Malgun Gothic"/>
                        </a:rPr>
                        <a:t>중</a:t>
                      </a:r>
                      <a:endParaRPr sz="850" b="1" dirty="0">
                        <a:solidFill>
                          <a:srgbClr val="2563EB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Master Bearer JWT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2563EB"/>
                          </a:solidFill>
                          <a:latin typeface="Malgun Gothic"/>
                        </a:rPr>
                        <a:t>SCR-MAIN-001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REQ-F-017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댓글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답변 댓글</a:t>
                      </a:r>
                      <a:endParaRPr lang="en-US" sz="85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회원이 공개 댓글을 작성하고 작성자 또는 ADMIN이 수정·삭제한다.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A58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</a:t>
                      </a:r>
                      <a:endParaRPr lang="en-US" sz="85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</a:t>
                      </a:r>
                      <a:endParaRPr lang="en-US" sz="85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블록 삽입 버튼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SCR-QST-002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12">
            <a:extLst>
              <a:ext uri="{FF2B5EF4-FFF2-40B4-BE49-F238E27FC236}">
                <a16:creationId xmlns:a16="http://schemas.microsoft.com/office/drawing/2014/main" id="{83243D52-20AE-6A68-C5F8-D2466F320054}"/>
              </a:ext>
            </a:extLst>
          </p:cNvPr>
          <p:cNvSpPr/>
          <p:nvPr/>
        </p:nvSpPr>
        <p:spPr>
          <a:xfrm>
            <a:off x="10180015" y="6601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6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17500" y="203200"/>
            <a:ext cx="1133856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비기능 요구사항 명세</a:t>
            </a:r>
          </a:p>
        </p:txBody>
      </p:sp>
      <p:sp>
        <p:nvSpPr>
          <p:cNvPr id="4" name="Text 2"/>
          <p:cNvSpPr/>
          <p:nvPr/>
        </p:nvSpPr>
        <p:spPr>
          <a:xfrm>
            <a:off x="317500" y="546100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0">
                <a:solidFill>
                  <a:srgbClr val="2563EB"/>
                </a:solidFill>
                <a:latin typeface="Malgun Gothic"/>
              </a:rPr>
              <a:t>REQ-N-001 ~ REQ-N-005 (성능 · 보안 · 호환성 · 배포 · 가용성)</a:t>
            </a: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231696"/>
              </p:ext>
            </p:extLst>
          </p:nvPr>
        </p:nvGraphicFramePr>
        <p:xfrm>
          <a:off x="279400" y="812800"/>
          <a:ext cx="11557000" cy="2039049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99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290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요구사항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Malgun Gothic"/>
                        </a:rPr>
                        <a:t> ID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대분류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요구사항명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상세 비기능 요구사항 내용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중요도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난이도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검증 기준 및 지표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관련 화면 ID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REQ-N-001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성능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응답속도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응답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시간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최적화</a:t>
                      </a:r>
                      <a:endParaRPr sz="850" b="1" dirty="0">
                        <a:solidFill>
                          <a:srgbClr val="0F172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메인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로딩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0.5초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이내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,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유튜브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키워드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파싱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0.3초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이내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,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채팅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이력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저장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5KB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미만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유지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EA580C"/>
                          </a:solidFill>
                          <a:latin typeface="Malgun Gothic"/>
                        </a:rPr>
                        <a:t>상</a:t>
                      </a:r>
                      <a:endParaRPr sz="850" b="1" dirty="0">
                        <a:solidFill>
                          <a:srgbClr val="EA580C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Chrome DevTools Network 측정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전체 화면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0F172A"/>
                          </a:solidFill>
                          <a:latin typeface="Malgun Gothic"/>
                        </a:rPr>
                        <a:t>REQ-N-002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보안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암호화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암호화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&amp;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인증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보안</a:t>
                      </a:r>
                      <a:endParaRPr sz="850" b="1" dirty="0">
                        <a:solidFill>
                          <a:srgbClr val="0F172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비밀번호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Bcrypt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단방향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암호화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, JWT Access Token HTTP Header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전송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, CORS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안전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설정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2563EB"/>
                          </a:solidFill>
                          <a:latin typeface="Malgun Gothic"/>
                        </a:rPr>
                        <a:t>중</a:t>
                      </a:r>
                      <a:endParaRPr sz="850" b="1" dirty="0">
                        <a:solidFill>
                          <a:srgbClr val="2563EB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OWASP Security Top 10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2563EB"/>
                          </a:solidFill>
                          <a:latin typeface="Malgun Gothic"/>
                        </a:rPr>
                        <a:t>SCR-AUTH-001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0F172A"/>
                          </a:solidFill>
                          <a:latin typeface="Malgun Gothic"/>
                        </a:rPr>
                        <a:t>REQ-N-003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호환성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환경지원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브라우저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&amp;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반응형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지원</a:t>
                      </a:r>
                      <a:endParaRPr sz="850" b="1" dirty="0">
                        <a:solidFill>
                          <a:srgbClr val="0F172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Chrome, Safari, Edge, Mobile Responsive Web (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모바일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반응형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웹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UI)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완벽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지원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2563EB"/>
                          </a:solidFill>
                          <a:latin typeface="Malgun Gothic"/>
                        </a:rPr>
                        <a:t>Medium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2563EB"/>
                          </a:solidFill>
                          <a:latin typeface="Malgun Gothic"/>
                        </a:rPr>
                        <a:t>중</a:t>
                      </a:r>
                      <a:endParaRPr sz="850" b="1" dirty="0">
                        <a:solidFill>
                          <a:srgbClr val="2563EB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Breakpoint: 640/768/1024px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전체 화면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0F172A"/>
                          </a:solidFill>
                          <a:latin typeface="Malgun Gothic"/>
                        </a:rPr>
                        <a:t>REQ-N-004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배포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자동화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0F172A"/>
                          </a:solidFill>
                          <a:latin typeface="Malgun Gothic"/>
                        </a:rPr>
                        <a:t>CI/CD 실배포 파이프라인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GitHub main Branch Push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Vercel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(Front) &amp; Render(Back)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자동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빌드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및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실배포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연동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2563EB"/>
                          </a:solidFill>
                          <a:latin typeface="Malgun Gothic"/>
                        </a:rPr>
                        <a:t>중</a:t>
                      </a:r>
                      <a:endParaRPr sz="850" b="1" dirty="0">
                        <a:solidFill>
                          <a:srgbClr val="2563EB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GitHub Webhook CI/CD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전체 시스템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0F172A"/>
                          </a:solidFill>
                          <a:latin typeface="Malgun Gothic"/>
                        </a:rPr>
                        <a:t>REQ-N-005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가용성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복구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0F172A"/>
                          </a:solidFill>
                          <a:latin typeface="Malgun Gothic"/>
                        </a:rPr>
                        <a:t>예외 및 장애 복구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API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장애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발생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5초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이내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재시도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및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로컬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렌더링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Fallback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메커니즘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100%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동작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2563EB"/>
                          </a:solidFill>
                          <a:latin typeface="Malgun Gothic"/>
                        </a:rPr>
                        <a:t>Medium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하</a:t>
                      </a:r>
                      <a:endParaRPr sz="850" b="1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Exception Fallback Logic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전체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화면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11480" y="6601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차린 밥상 산출물  ·  웹 서비스 개발 Mini Project</a:t>
            </a:r>
            <a:endParaRPr lang="en-US" sz="1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5828EE0-C3FA-02DA-1683-37C2C1117F61}"/>
              </a:ext>
            </a:extLst>
          </p:cNvPr>
          <p:cNvSpPr/>
          <p:nvPr/>
        </p:nvSpPr>
        <p:spPr>
          <a:xfrm>
            <a:off x="317500" y="3200400"/>
            <a:ext cx="113385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핵심 비즈니스 정책 및 예외 처리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BBD799B8-F739-F96B-3F23-0D1EE1161890}"/>
              </a:ext>
            </a:extLst>
          </p:cNvPr>
          <p:cNvSpPr/>
          <p:nvPr/>
        </p:nvSpPr>
        <p:spPr>
          <a:xfrm>
            <a:off x="317500" y="3530600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0">
                <a:solidFill>
                  <a:srgbClr val="2563EB"/>
                </a:solidFill>
                <a:latin typeface="Malgun Gothic"/>
              </a:rPr>
              <a:t>회원 권한 제어 · 무결성 보장 · WebSocket 장애 복구</a:t>
            </a: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B3C0F55A-F8E4-6663-1061-278E833A7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574789"/>
              </p:ext>
            </p:extLst>
          </p:nvPr>
        </p:nvGraphicFramePr>
        <p:xfrm>
          <a:off x="279400" y="3810000"/>
          <a:ext cx="11557000" cy="1616331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44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1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12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147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정책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Malgun Gothic"/>
                        </a:rPr>
                        <a:t> ID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분류</a:t>
                      </a:r>
                      <a:endParaRPr sz="850" b="1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정책명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정책 세부 내용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적용 로직 및 제약사항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중요도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상태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담당 컴포넌트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관련 화면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POL-001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인증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로그인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/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회원가입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에러</a:t>
                      </a:r>
                      <a:r>
                        <a:rPr sz="8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처리</a:t>
                      </a:r>
                      <a:endParaRPr sz="850" b="1" dirty="0">
                        <a:solidFill>
                          <a:srgbClr val="0F172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이메일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형식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불일치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또는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비밀번호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미입력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폼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하단에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즉시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실시간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인접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에러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메시지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표출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Form Validation &amp; JWT Check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059669"/>
                          </a:solidFill>
                          <a:latin typeface="Malgun Gothic"/>
                        </a:rPr>
                        <a:t>적용완료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AuthModal.tsx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2563EB"/>
                          </a:solidFill>
                          <a:latin typeface="Malgun Gothic"/>
                        </a:rPr>
                        <a:t>SCR-AUTH-001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0F172A"/>
                          </a:solidFill>
                          <a:latin typeface="Malgun Gothic"/>
                        </a:rPr>
                        <a:t>POL-002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권한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0F172A"/>
                          </a:solidFill>
                          <a:latin typeface="Malgun Gothic"/>
                        </a:rPr>
                        <a:t>작성자/마스터 삭제 통제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일반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유저는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본인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작성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밥상만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삭제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가능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, 👑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마스터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계정만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전체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방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원터치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영구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삭제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허용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JWT Payload Role &amp; ID Check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059669"/>
                          </a:solidFill>
                          <a:latin typeface="Malgun Gothic"/>
                        </a:rPr>
                        <a:t>적용완료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PlaylistCard.tsx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2563EB"/>
                          </a:solidFill>
                          <a:latin typeface="Malgun Gothic"/>
                        </a:rPr>
                        <a:t>SCR-MAIN-001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0F172A"/>
                          </a:solidFill>
                          <a:latin typeface="Malgun Gothic"/>
                        </a:rPr>
                        <a:t>POL-003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네트워크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0F172A"/>
                          </a:solidFill>
                          <a:latin typeface="Malgun Gothic"/>
                        </a:rPr>
                        <a:t>WebSocket 자동 재연결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합석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방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연결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끊김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시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15초 Keep-Alive Ping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전송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및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3초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간격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지수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백오프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자동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재연결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PresenceManager</a:t>
                      </a:r>
                      <a:r>
                        <a:rPr sz="850" b="0" dirty="0">
                          <a:solidFill>
                            <a:srgbClr val="334155"/>
                          </a:solidFill>
                          <a:latin typeface="Malgun Gothic"/>
                        </a:rPr>
                        <a:t> &amp; WS Client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 err="1">
                          <a:solidFill>
                            <a:srgbClr val="059669"/>
                          </a:solidFill>
                          <a:latin typeface="Malgun Gothic"/>
                        </a:rPr>
                        <a:t>적용완료</a:t>
                      </a:r>
                      <a:endParaRPr sz="850" b="1" dirty="0">
                        <a:solidFill>
                          <a:srgbClr val="059669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 dirty="0" err="1">
                          <a:solidFill>
                            <a:srgbClr val="334155"/>
                          </a:solidFill>
                          <a:latin typeface="Malgun Gothic"/>
                        </a:rPr>
                        <a:t>LiveChatDrawer.tsx</a:t>
                      </a:r>
                      <a:endParaRPr sz="850" b="0" dirty="0">
                        <a:solidFill>
                          <a:srgbClr val="334155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 dirty="0">
                          <a:solidFill>
                            <a:srgbClr val="2563EB"/>
                          </a:solidFill>
                          <a:latin typeface="Malgun Gothic"/>
                        </a:rPr>
                        <a:t>SCR-LIVE-001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12">
            <a:extLst>
              <a:ext uri="{FF2B5EF4-FFF2-40B4-BE49-F238E27FC236}">
                <a16:creationId xmlns:a16="http://schemas.microsoft.com/office/drawing/2014/main" id="{2488A259-7AF9-E013-DE86-E5442854D450}"/>
              </a:ext>
            </a:extLst>
          </p:cNvPr>
          <p:cNvSpPr/>
          <p:nvPr/>
        </p:nvSpPr>
        <p:spPr>
          <a:xfrm>
            <a:off x="10180015" y="6601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7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17500" y="203200"/>
            <a:ext cx="1133856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요구사항 ↔ 화면 추적성</a:t>
            </a:r>
          </a:p>
        </p:txBody>
      </p:sp>
      <p:sp>
        <p:nvSpPr>
          <p:cNvPr id="4" name="Text 2"/>
          <p:cNvSpPr/>
          <p:nvPr/>
        </p:nvSpPr>
        <p:spPr>
          <a:xfrm>
            <a:off x="317500" y="546100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0">
                <a:solidFill>
                  <a:srgbClr val="2563EB"/>
                </a:solidFill>
                <a:latin typeface="Malgun Gothic"/>
              </a:rPr>
              <a:t>REQ-F-001 ~ REQ-F-010 기능 요구사항과 화면(SCR) 간 양방향 교차 검증 매핑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398771"/>
              </p:ext>
            </p:extLst>
          </p:nvPr>
        </p:nvGraphicFramePr>
        <p:xfrm>
          <a:off x="317500" y="863600"/>
          <a:ext cx="11557000" cy="2227331"/>
        </p:xfrm>
        <a:graphic>
          <a:graphicData uri="http://schemas.openxmlformats.org/drawingml/2006/table">
            <a:tbl>
              <a:tblPr/>
              <a:tblGrid>
                <a:gridCol w="120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요구사항 ID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대분류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요구사항명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상세 기능 요약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매핑 화면 ID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화면명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중요도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구현 상태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회원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이메일 회원가입 및 로그인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JWT 기반 로그인/회원가입 및 마스터/일반 권한 분리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2563EB"/>
                          </a:solidFill>
                          <a:latin typeface="Malgun Gothic"/>
                        </a:rPr>
                        <a:t>SCR-AUTH-001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인증 모달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59669"/>
                          </a:solidFill>
                          <a:latin typeface="Malgun Gothic"/>
                        </a:rPr>
                        <a:t>완료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REQ-F-002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수집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유튜브 실시간 키워드 검색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0.3초 키워드 직접 검색 및 카드 8건 뷰어 추출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2563EB"/>
                          </a:solidFill>
                          <a:latin typeface="Malgun Gothic"/>
                        </a:rPr>
                        <a:t>SCR-CREATE-001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밥상 생성 모달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59669"/>
                          </a:solidFill>
                          <a:latin typeface="Malgun Gothic"/>
                        </a:rPr>
                        <a:t>완료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수집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OTT/유튜브 URL 파싱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URL 입력 시 영상 ID 추출 및 5/15/20분 식사 컷 태깅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2563EB"/>
                          </a:solidFill>
                          <a:latin typeface="Malgun Gothic"/>
                        </a:rPr>
                        <a:t>SCR-CREATE-001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밥상 생성 모달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59669"/>
                          </a:solidFill>
                          <a:latin typeface="Malgun Gothic"/>
                        </a:rPr>
                        <a:t>완료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REQ-F-004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라이브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실시간 라이브 밥상방 생성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실시간 합석 밥상방 개설 및 메인 라이브 피드 노출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2563EB"/>
                          </a:solidFill>
                          <a:latin typeface="Malgun Gothic"/>
                        </a:rPr>
                        <a:t>SCR-MAIN-001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메인 반찬 피드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59669"/>
                          </a:solidFill>
                          <a:latin typeface="Malgun Gothic"/>
                        </a:rPr>
                        <a:t>완료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라이브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방장(Host) 권한 영구 보존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재접속/새로고침 시에도 방장(👑) 권한 100% 지속 유지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2563EB"/>
                          </a:solidFill>
                          <a:latin typeface="Malgun Gothic"/>
                        </a:rPr>
                        <a:t>SCR-LIVE-001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라이브 플레이어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59669"/>
                          </a:solidFill>
                          <a:latin typeface="Malgun Gothic"/>
                        </a:rPr>
                        <a:t>완료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REQ-F-006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라이브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100% 재생 타임스탬프 동기화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방장 리드 영상 교체 &amp; 중간 입장자 자동 타임스탬프 점프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2563EB"/>
                          </a:solidFill>
                          <a:latin typeface="Malgun Gothic"/>
                        </a:rPr>
                        <a:t>SCR-LIVE-001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라이브 플레이어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59669"/>
                          </a:solidFill>
                          <a:latin typeface="Malgun Gothic"/>
                        </a:rPr>
                        <a:t>완료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REQ-F-007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라이브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실시간 합석 대화 &amp; 이력 보존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WebSocket 실시간 채팅 및 최근 50개 대화 복원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2563EB"/>
                          </a:solidFill>
                          <a:latin typeface="Malgun Gothic"/>
                        </a:rPr>
                        <a:t>SCR-LIVE-001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라이브 플레이어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59669"/>
                          </a:solidFill>
                          <a:latin typeface="Malgun Gothic"/>
                        </a:rPr>
                        <a:t>완료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REQ-F-008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라이브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동시 시청자 수 측정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PresenceManager 세션 기반 실제 합석자 수 실시간 표기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2563EB"/>
                          </a:solidFill>
                          <a:latin typeface="Malgun Gothic"/>
                        </a:rPr>
                        <a:t>SCR-LIVE-001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라이브 플레이어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 dirty="0">
                          <a:solidFill>
                            <a:srgbClr val="2563EB"/>
                          </a:solidFill>
                          <a:latin typeface="Malgun Gothic"/>
                        </a:rPr>
                        <a:t>Medium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59669"/>
                          </a:solidFill>
                          <a:latin typeface="Malgun Gothic"/>
                        </a:rPr>
                        <a:t>완료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REQ-F-009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보관함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내 보관함 &amp; 라이브방 삭제 연동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334155"/>
                          </a:solidFill>
                          <a:latin typeface="Malgun Gothic"/>
                        </a:rPr>
                        <a:t>보관함 등록 및 삭제 시 보관함+피드 동시 완전 제거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2563EB"/>
                          </a:solidFill>
                          <a:latin typeface="Malgun Gothic"/>
                        </a:rPr>
                        <a:t>SCR-MY-001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내 보관함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EA580C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 dirty="0" err="1">
                          <a:solidFill>
                            <a:srgbClr val="059669"/>
                          </a:solidFill>
                          <a:latin typeface="Malgun Gothic"/>
                        </a:rPr>
                        <a:t>완료</a:t>
                      </a:r>
                      <a:endParaRPr sz="900" b="1" dirty="0">
                        <a:solidFill>
                          <a:srgbClr val="059669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11480" y="6601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차린 밥상 산출물  ·  웹 서비스 개발 Mini Project</a:t>
            </a:r>
            <a:endParaRPr lang="en-US" sz="100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158DDD45-3FBE-C6C3-E94A-B67567BD1A7D}"/>
              </a:ext>
            </a:extLst>
          </p:cNvPr>
          <p:cNvSpPr/>
          <p:nvPr/>
        </p:nvSpPr>
        <p:spPr>
          <a:xfrm>
            <a:off x="10180015" y="6601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8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17500" y="203200"/>
            <a:ext cx="1133856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화면 목록 (Screen List)</a:t>
            </a:r>
          </a:p>
        </p:txBody>
      </p:sp>
      <p:sp>
        <p:nvSpPr>
          <p:cNvPr id="4" name="Text 2"/>
          <p:cNvSpPr/>
          <p:nvPr/>
        </p:nvSpPr>
        <p:spPr>
          <a:xfrm>
            <a:off x="317500" y="546100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0">
                <a:solidFill>
                  <a:srgbClr val="2563EB"/>
                </a:solidFill>
                <a:latin typeface="Malgun Gothic"/>
              </a:rPr>
              <a:t>남이 차린 밥상 5개 핵심 화면 및 라우트(Route) 명세서</a:t>
            </a:r>
          </a:p>
        </p:txBody>
      </p:sp>
      <p:sp>
        <p:nvSpPr>
          <p:cNvPr id="6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11480" y="6601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차린 밥상 산출물  ·  웹 서비스 개발 Mini Project</a:t>
            </a:r>
            <a:endParaRPr lang="en-US" sz="1000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2AE0993F-F845-AF3E-F721-1FD0B2CF6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379204"/>
              </p:ext>
            </p:extLst>
          </p:nvPr>
        </p:nvGraphicFramePr>
        <p:xfrm>
          <a:off x="317500" y="863600"/>
          <a:ext cx="11557000" cy="2465837"/>
        </p:xfrm>
        <a:graphic>
          <a:graphicData uri="http://schemas.openxmlformats.org/drawingml/2006/table">
            <a:tbl>
              <a:tblPr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화면 ID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화면명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경로 (Route)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화면 설명 및 핵심 인터랙션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매핑 요구사항 ID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2563EB"/>
                          </a:solidFill>
                          <a:latin typeface="Malgun Gothic"/>
                        </a:rPr>
                        <a:t>SCR-MAIN-001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algun Gothic"/>
                        </a:rPr>
                        <a:t>메인 반찬 피드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Malgun Gothic"/>
                        </a:rPr>
                        <a:t>/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🔴 실시간 라이브 밥상방, 🍱 남이 차린 반찬, 식사시간 큐레이션 피드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algun Gothic"/>
                        </a:rPr>
                        <a:t>REQ-F-004, REQ-F-010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2563EB"/>
                          </a:solidFill>
                          <a:latin typeface="Malgun Gothic"/>
                        </a:rPr>
                        <a:t>SCR-AUTH-001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algun Gothic"/>
                        </a:rPr>
                        <a:t>인증 모달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Malgun Gothic"/>
                        </a:rPr>
                        <a:t>/ (Modal)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이메일/비밀번호 로그인 및 회원가입 스위칭 모달 (동적 폼 검증)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algun Gothic"/>
                        </a:rPr>
                        <a:t>REQ-F-001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2563EB"/>
                          </a:solidFill>
                          <a:latin typeface="Malgun Gothic"/>
                        </a:rPr>
                        <a:t>SCR-CREATE-001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algun Gothic"/>
                        </a:rPr>
                        <a:t>밥상 차리기 모달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Malgun Gothic"/>
                        </a:rPr>
                        <a:t>/ (Modal)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유튜브 0.3초 키워드 검색 및 URL 파싱 조합 15분 밥상 개설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algun Gothic"/>
                        </a:rPr>
                        <a:t>REQ-F-002, REQ-F-003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2563EB"/>
                          </a:solidFill>
                          <a:latin typeface="Malgun Gothic"/>
                        </a:rPr>
                        <a:t>SCR-LIVE-001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algun Gothic"/>
                        </a:rPr>
                        <a:t>라이브 합석 플레이어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Malgun Gothic"/>
                        </a:rPr>
                        <a:t>/ (Player Modal)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방장 비디오 컨트롤 + 100% 재생 타임스탬프 동기화 + 실시간 채팅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algun Gothic"/>
                        </a:rPr>
                        <a:t>REQ-F-005, 006, 007, 008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2563EB"/>
                          </a:solidFill>
                          <a:latin typeface="Malgun Gothic"/>
                        </a:rPr>
                        <a:t>SCR-MY-001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algun Gothic"/>
                        </a:rPr>
                        <a:t>내 보관함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Malgun Gothic"/>
                        </a:rPr>
                        <a:t>/my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👑 마스터/일반 프로필, 내가 차린 반찬 및 라이브 방 동시 보관·삭제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algun Gothic"/>
                        </a:rPr>
                        <a:t>REQ-F-009, REQ-F-010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algun Gothic"/>
                        </a:rPr>
                        <a:t>API Swagger 문서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Malgun Gothic"/>
                        </a:rPr>
                        <a:t>/docs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FastAPI OpenAPI 자동 생성 대화형 API 테스트 명세서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 dirty="0">
                          <a:solidFill>
                            <a:srgbClr val="334155"/>
                          </a:solidFill>
                          <a:latin typeface="Malgun Gothic"/>
                        </a:rPr>
                        <a:t>REQ-N-001 ~ REQ-N-005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algun Gothic"/>
                        </a:rPr>
                        <a:t>ML 큐레이션 엔진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Malgun Gothic"/>
                        </a:rPr>
                        <a:t>/api/v1/recommendations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TensorFlow 군집화 &amp; Pandas 15분 러닝타임 맞춤 추천 API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algun Gothic"/>
                        </a:rPr>
                        <a:t>REQ-F-003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algun Gothic"/>
                        </a:rPr>
                        <a:t>딥링크 라우터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Malgun Gothic"/>
                        </a:rPr>
                        <a:t>/api/v1/videos/{platform}/...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트래픽 0% 유튜브/넷플릭스 모바일 앱 Universal Link 리다이렉트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algun Gothic"/>
                        </a:rPr>
                        <a:t>REQ-F-003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Malgun Gothic"/>
                        </a:rPr>
                        <a:t>웹소켓 매니저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Malgun Gothic"/>
                        </a:rPr>
                        <a:t>/api/v1/presence/ws/{id}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Redis Pub/Sub 연동 실시간 동시 시청자 수 집계 및 메시지 브로드캐스트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 dirty="0">
                          <a:solidFill>
                            <a:srgbClr val="0F172A"/>
                          </a:solidFill>
                          <a:latin typeface="Malgun Gothic"/>
                        </a:rPr>
                        <a:t>REQ-F-007, REQ-F-008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 12">
            <a:extLst>
              <a:ext uri="{FF2B5EF4-FFF2-40B4-BE49-F238E27FC236}">
                <a16:creationId xmlns:a16="http://schemas.microsoft.com/office/drawing/2014/main" id="{C3E82CD8-B9C8-C3D0-F332-3C106BFAB9FC}"/>
              </a:ext>
            </a:extLst>
          </p:cNvPr>
          <p:cNvSpPr/>
          <p:nvPr/>
        </p:nvSpPr>
        <p:spPr>
          <a:xfrm>
            <a:off x="10180015" y="6601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9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SCR-MAIN-001  메인 반찬 피드</a:t>
            </a:r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4219"/>
              </p:ext>
            </p:extLst>
          </p:nvPr>
        </p:nvGraphicFramePr>
        <p:xfrm>
          <a:off x="5397500" y="863600"/>
          <a:ext cx="6416039" cy="2054418"/>
        </p:xfrm>
        <a:graphic>
          <a:graphicData uri="http://schemas.openxmlformats.org/drawingml/2006/table">
            <a:tbl>
              <a:tblPr/>
              <a:tblGrid>
                <a:gridCol w="48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4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1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NO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매핑 요구사항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UI 요소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인터랙션 / 이동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①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REQ-F-004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[🔴 라이브 방 열기]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클릭 시 라이브 방 개설 전용 모달 오픈 (is_live: true)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②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[🍱 반찬 차리기]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클릭 시 반찬 조합 생성 모달 오픈 (is_live: false)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③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REQ-F-006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라이브 방 카드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클릭 시 실시간 동기화 플레이어 및 채팅 패널 실행 (SCR-LIVE-001)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④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REQ-F-010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[삭제] 버튼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작성자 본인 또는 👑 마스터 계정일 때만 노출. 클릭 시 밥상 삭제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⑤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[추천] 버튼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클릭 시 추천 수 1 증가 (로컬스토리지 추천 중복 방지)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⑥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REQ-F-008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🟢 합석 뱃지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현재 접속 중인 활성 시청자 수(PresenceManager) 실시간 집계 표기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397500" y="4191000"/>
            <a:ext cx="6477000" cy="2032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588000" y="4343400"/>
            <a:ext cx="609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0F172A"/>
                </a:solidFill>
                <a:latin typeface="Malgun Gothic"/>
              </a:rPr>
              <a:t>예외 처리 및 비즈니스 정책</a:t>
            </a:r>
          </a:p>
        </p:txBody>
      </p:sp>
      <p:sp>
        <p:nvSpPr>
          <p:cNvPr id="12" name="Text 9"/>
          <p:cNvSpPr/>
          <p:nvPr/>
        </p:nvSpPr>
        <p:spPr>
          <a:xfrm>
            <a:off x="5588000" y="4699000"/>
            <a:ext cx="6096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sz="1000" b="0">
                <a:solidFill>
                  <a:srgbClr val="334155"/>
                </a:solidFill>
                <a:latin typeface="Malgun Gothic"/>
              </a:rPr>
              <a:t>비회원 방 개설/차리기 클릭 시 로그인 모달 오픈. 밥상 데이터 없을 시 기본 큐레이션 피드 렌더링. API 실패 시 5초 주기 자동 재시도.</a:t>
            </a:r>
          </a:p>
        </p:txBody>
      </p:sp>
      <p:sp>
        <p:nvSpPr>
          <p:cNvPr id="13" name="Shap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11480" y="6601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차린 밥상 산출물  ·  웹 서비스 개발 Mini Project</a:t>
            </a:r>
            <a:endParaRPr 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9BFD13-E9B1-38EE-CCFA-0C78B7D7FDF1}"/>
              </a:ext>
            </a:extLst>
          </p:cNvPr>
          <p:cNvSpPr txBox="1"/>
          <p:nvPr/>
        </p:nvSpPr>
        <p:spPr>
          <a:xfrm>
            <a:off x="404620" y="504713"/>
            <a:ext cx="2792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endParaRPr lang="ko-KR" altLang="en-US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FE7D88-1952-F287-E5CB-3DEEA326D5AA}"/>
              </a:ext>
            </a:extLst>
          </p:cNvPr>
          <p:cNvSpPr txBox="1"/>
          <p:nvPr/>
        </p:nvSpPr>
        <p:spPr>
          <a:xfrm>
            <a:off x="3901512" y="494015"/>
            <a:ext cx="5128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ko-KR" altLang="en-US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261DD0-6EE8-C1D5-102D-2C2E36765C12}"/>
              </a:ext>
            </a:extLst>
          </p:cNvPr>
          <p:cNvSpPr txBox="1"/>
          <p:nvPr/>
        </p:nvSpPr>
        <p:spPr>
          <a:xfrm>
            <a:off x="1339187" y="1885706"/>
            <a:ext cx="300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</a:t>
            </a:r>
            <a:endParaRPr lang="ko-KR" altLang="en-US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850201-35E0-150B-05F5-2F6EDC051C20}"/>
              </a:ext>
            </a:extLst>
          </p:cNvPr>
          <p:cNvSpPr txBox="1"/>
          <p:nvPr/>
        </p:nvSpPr>
        <p:spPr>
          <a:xfrm>
            <a:off x="1319020" y="2470922"/>
            <a:ext cx="300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altLang="ko-KR" sz="11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143D29-A371-84B3-4091-CF0E033A0C5E}"/>
              </a:ext>
            </a:extLst>
          </p:cNvPr>
          <p:cNvSpPr txBox="1"/>
          <p:nvPr/>
        </p:nvSpPr>
        <p:spPr>
          <a:xfrm>
            <a:off x="1170684" y="2988564"/>
            <a:ext cx="300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</a:t>
            </a:r>
            <a:endParaRPr lang="en-US" altLang="ko-KR" sz="11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65223F-1227-94A2-B3AE-B59C211B463A}"/>
              </a:ext>
            </a:extLst>
          </p:cNvPr>
          <p:cNvSpPr txBox="1"/>
          <p:nvPr/>
        </p:nvSpPr>
        <p:spPr>
          <a:xfrm>
            <a:off x="683867" y="5410977"/>
            <a:ext cx="1310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Malgun Gothic"/>
              </a:rPr>
              <a:t>⑦</a:t>
            </a:r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144BA043-26E0-8C00-89BD-973E88F91273}"/>
              </a:ext>
            </a:extLst>
          </p:cNvPr>
          <p:cNvSpPr/>
          <p:nvPr/>
        </p:nvSpPr>
        <p:spPr>
          <a:xfrm>
            <a:off x="411480" y="566420"/>
            <a:ext cx="641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0">
                <a:solidFill>
                  <a:srgbClr val="2563EB"/>
                </a:solidFill>
                <a:latin typeface="Malgun Gothic"/>
              </a:rPr>
              <a:t>경로 /   ·   버전 v1.0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402875-9821-EBB5-89A8-EEA46D22C0A5}"/>
              </a:ext>
            </a:extLst>
          </p:cNvPr>
          <p:cNvSpPr txBox="1"/>
          <p:nvPr/>
        </p:nvSpPr>
        <p:spPr>
          <a:xfrm>
            <a:off x="2795142" y="1881040"/>
            <a:ext cx="274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ko-KR" altLang="en-US" b="1" dirty="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D15844B9-4BCA-2804-73F3-E4A082D9F9DE}"/>
              </a:ext>
            </a:extLst>
          </p:cNvPr>
          <p:cNvSpPr/>
          <p:nvPr/>
        </p:nvSpPr>
        <p:spPr>
          <a:xfrm>
            <a:off x="10180015" y="6601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10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16</a:t>
            </a:r>
            <a:endParaRPr lang="en-US" sz="1000" dirty="0"/>
          </a:p>
        </p:txBody>
      </p:sp>
      <p:sp>
        <p:nvSpPr>
          <p:cNvPr id="36" name="ImagePlaceholder_10"/>
          <p:cNvSpPr/>
          <p:nvPr/>
        </p:nvSpPr>
        <p:spPr>
          <a:xfrm>
            <a:off x="317500" y="863600"/>
            <a:ext cx="4889500" cy="53340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Malgun Gothic"/>
              </a:rPr>
              <a:t>🖼️ [SCR-MAIN-001] 메인 반찬 피드 화면</a:t>
            </a:r>
          </a:p>
          <a:p>
            <a:pPr algn="ctr"/>
            <a:r>
              <a:rPr sz="1000" b="0">
                <a:solidFill>
                  <a:srgbClr val="64748B"/>
                </a:solidFill>
                <a:latin typeface="Malgun Gothic"/>
              </a:rPr>
              <a:t>(직접 캡처한 메인 피드 스크린샷을 여기에 붙여넣으세요)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SCR-AUTH-001  인증 모달 (로그인 · 회원가입)</a:t>
            </a:r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0">
                <a:solidFill>
                  <a:srgbClr val="2563EB"/>
                </a:solidFill>
                <a:latin typeface="Malgun Gothic"/>
              </a:rPr>
              <a:t>경로 / (Modal)   ·   버전 v1.0</a:t>
            </a:r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161784"/>
              </p:ext>
            </p:extLst>
          </p:nvPr>
        </p:nvGraphicFramePr>
        <p:xfrm>
          <a:off x="4826000" y="863600"/>
          <a:ext cx="6675120" cy="1294132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NO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매핑 요구사항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UI 요소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인터랙션 / 이동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①②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이메일 / 비밀번호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필드 형식 실시간 유효성 검증, 비밀번호 마스킹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③④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닉네임 / 마스터키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닉네임 입력 (마스터키 MASTER2026 입력 시 👑 마스터 승격)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⑤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제출 버튼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회원가입 201 Created → 로그인 JWT 발급 및 LocalStorage 저장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⑥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모드 전환 링크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로그인 ↔ 회원가입 폼 동적 스위칭 (동적 Remount 적용)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17500" y="5435600"/>
            <a:ext cx="11557000" cy="952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82600" y="5511800"/>
            <a:ext cx="1117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0F172A"/>
                </a:solidFill>
                <a:latin typeface="Malgun Gothic"/>
              </a:rPr>
              <a:t>예외 처리 및 비즈니스 정책</a:t>
            </a:r>
          </a:p>
        </p:txBody>
      </p:sp>
      <p:sp>
        <p:nvSpPr>
          <p:cNvPr id="12" name="Text 9"/>
          <p:cNvSpPr/>
          <p:nvPr/>
        </p:nvSpPr>
        <p:spPr>
          <a:xfrm>
            <a:off x="482600" y="5791200"/>
            <a:ext cx="1117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sz="1000" b="0">
                <a:solidFill>
                  <a:srgbClr val="334155"/>
                </a:solidFill>
                <a:latin typeface="Malgun Gothic"/>
              </a:rPr>
              <a:t>이메일 형식 불일치 또는 필수값 미입력 시 폼 하단에 즉시 에러 문구 표시. 인증 성공 시 이전 시청 상태 유지하며 모달 닫기.</a:t>
            </a:r>
          </a:p>
        </p:txBody>
      </p:sp>
      <p:sp>
        <p:nvSpPr>
          <p:cNvPr id="13" name="Shap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11480" y="6601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차린 밥상 산출물  ·  웹 서비스 개발 Mini Project</a:t>
            </a:r>
            <a:endParaRPr 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3BB7B1-4D32-A657-350A-79DE906348F4}"/>
              </a:ext>
            </a:extLst>
          </p:cNvPr>
          <p:cNvSpPr txBox="1"/>
          <p:nvPr/>
        </p:nvSpPr>
        <p:spPr>
          <a:xfrm>
            <a:off x="1481236" y="2219363"/>
            <a:ext cx="300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ko-KR" alt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0D3DAE-DC8F-BFB8-4A84-F60BF62F8856}"/>
              </a:ext>
            </a:extLst>
          </p:cNvPr>
          <p:cNvSpPr txBox="1"/>
          <p:nvPr/>
        </p:nvSpPr>
        <p:spPr>
          <a:xfrm>
            <a:off x="1481236" y="2742194"/>
            <a:ext cx="300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ko-KR" alt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B4EF21-7CD3-0C20-4004-FF6455B499CC}"/>
              </a:ext>
            </a:extLst>
          </p:cNvPr>
          <p:cNvSpPr txBox="1"/>
          <p:nvPr/>
        </p:nvSpPr>
        <p:spPr>
          <a:xfrm>
            <a:off x="1481236" y="3273195"/>
            <a:ext cx="300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ko-KR" altLang="en-US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191794-9136-18EE-53C7-17B2BBD3EEBE}"/>
              </a:ext>
            </a:extLst>
          </p:cNvPr>
          <p:cNvSpPr txBox="1"/>
          <p:nvPr/>
        </p:nvSpPr>
        <p:spPr>
          <a:xfrm>
            <a:off x="1226116" y="3580751"/>
            <a:ext cx="3173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ko-KR" alt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C403A1-80FA-254F-FD87-B9043B70B177}"/>
              </a:ext>
            </a:extLst>
          </p:cNvPr>
          <p:cNvSpPr txBox="1"/>
          <p:nvPr/>
        </p:nvSpPr>
        <p:spPr>
          <a:xfrm>
            <a:off x="1216786" y="3980947"/>
            <a:ext cx="300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ko-KR" alt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83E088-EE78-07CA-26F0-705FA6A8DFAB}"/>
              </a:ext>
            </a:extLst>
          </p:cNvPr>
          <p:cNvSpPr txBox="1"/>
          <p:nvPr/>
        </p:nvSpPr>
        <p:spPr>
          <a:xfrm>
            <a:off x="2796851" y="4296431"/>
            <a:ext cx="300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</a:t>
            </a:r>
            <a:endParaRPr lang="ko-KR" altLang="en-US" b="1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88E3D261-BF7F-E8EA-C265-4C93106078BD}"/>
              </a:ext>
            </a:extLst>
          </p:cNvPr>
          <p:cNvSpPr/>
          <p:nvPr/>
        </p:nvSpPr>
        <p:spPr>
          <a:xfrm>
            <a:off x="10180015" y="6601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11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16</a:t>
            </a:r>
            <a:endParaRPr lang="en-US" sz="1000" dirty="0"/>
          </a:p>
        </p:txBody>
      </p:sp>
      <p:sp>
        <p:nvSpPr>
          <p:cNvPr id="31" name="ImagePlaceholder_11"/>
          <p:cNvSpPr/>
          <p:nvPr/>
        </p:nvSpPr>
        <p:spPr>
          <a:xfrm>
            <a:off x="317500" y="863600"/>
            <a:ext cx="4318000" cy="43180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Malgun Gothic"/>
              </a:rPr>
              <a:t>🖼️ [SCR-AUTH-001] 로그인 · 회원가입 모달 화면</a:t>
            </a:r>
          </a:p>
          <a:p>
            <a:pPr algn="ctr"/>
            <a:r>
              <a:rPr sz="1000" b="0">
                <a:solidFill>
                  <a:srgbClr val="64748B"/>
                </a:solidFill>
                <a:latin typeface="Malgun Gothic"/>
              </a:rPr>
              <a:t>(직접 캡처한 인증 모달 스크린샷을 여기에 붙여넣으세요)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SCR-CREATE-001  밥상 차리기 · 라이브 개설</a:t>
            </a:r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0">
                <a:solidFill>
                  <a:srgbClr val="2563EB"/>
                </a:solidFill>
                <a:latin typeface="Malgun Gothic"/>
              </a:rPr>
              <a:t>경로 / (Modal)   ·   버전 v1.0</a:t>
            </a: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295997"/>
              </p:ext>
            </p:extLst>
          </p:nvPr>
        </p:nvGraphicFramePr>
        <p:xfrm>
          <a:off x="317500" y="3911600"/>
          <a:ext cx="6675120" cy="1384175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NO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매핑 요구사항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UI 요소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인터랙션 / 이동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①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REQ-F-002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유튜브 키워드 검색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검색어(성시경 등) 입력 시 0.3초 초고속 썸네일/러닝타임 카드 8건 노출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②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URL 파싱 입력창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유튜브/OTT URL 입력 시 메타데이터 자동 파싱 및 식사시간 태깅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③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REQ-F-004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방 개설 / 차리기 버튼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라이브 방(is_live: true) 또는 나만의 반찬 생성 완료 후 피드 등록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17500" y="5435600"/>
            <a:ext cx="11557000" cy="952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82600" y="5511800"/>
            <a:ext cx="1117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0F172A"/>
                </a:solidFill>
                <a:latin typeface="Malgun Gothic"/>
              </a:rPr>
              <a:t>예외 처리 및 비즈니스 정책</a:t>
            </a:r>
          </a:p>
        </p:txBody>
      </p:sp>
      <p:sp>
        <p:nvSpPr>
          <p:cNvPr id="12" name="Text 9"/>
          <p:cNvSpPr/>
          <p:nvPr/>
        </p:nvSpPr>
        <p:spPr>
          <a:xfrm>
            <a:off x="482600" y="5791200"/>
            <a:ext cx="1117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sz="1000" b="0">
                <a:solidFill>
                  <a:srgbClr val="334155"/>
                </a:solidFill>
                <a:latin typeface="Malgun Gothic"/>
              </a:rPr>
              <a:t>영상 최소 1개 이상 영입 필수. 식사 런타임 계산(5분/15분/20분+) 자동 완료. 중복 URL 입력 시 경고 알림.</a:t>
            </a:r>
          </a:p>
        </p:txBody>
      </p:sp>
      <p:sp>
        <p:nvSpPr>
          <p:cNvPr id="13" name="Shap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11480" y="6601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차린 밥상 산출물  ·  웹 서비스 개발 Mini Project</a:t>
            </a:r>
            <a:endParaRPr 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11E86B-B094-2BF2-7323-1D98C0811FF1}"/>
              </a:ext>
            </a:extLst>
          </p:cNvPr>
          <p:cNvSpPr txBox="1"/>
          <p:nvPr/>
        </p:nvSpPr>
        <p:spPr>
          <a:xfrm>
            <a:off x="6819139" y="1261369"/>
            <a:ext cx="2620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ko-KR" alt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A08263-B950-5D0A-0861-5B510CDDF6B7}"/>
              </a:ext>
            </a:extLst>
          </p:cNvPr>
          <p:cNvSpPr txBox="1"/>
          <p:nvPr/>
        </p:nvSpPr>
        <p:spPr>
          <a:xfrm>
            <a:off x="7003445" y="2217183"/>
            <a:ext cx="2620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ko-KR" altLang="en-US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2A8244-B893-826A-02A1-5D60FBB594A6}"/>
              </a:ext>
            </a:extLst>
          </p:cNvPr>
          <p:cNvSpPr txBox="1"/>
          <p:nvPr/>
        </p:nvSpPr>
        <p:spPr>
          <a:xfrm>
            <a:off x="648954" y="2829565"/>
            <a:ext cx="2601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ko-KR" altLang="en-US" b="1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BBA1E6D6-2FAF-01E1-0CBE-8CC48C963D7F}"/>
              </a:ext>
            </a:extLst>
          </p:cNvPr>
          <p:cNvSpPr/>
          <p:nvPr/>
        </p:nvSpPr>
        <p:spPr>
          <a:xfrm>
            <a:off x="10180015" y="6601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12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16</a:t>
            </a:r>
            <a:endParaRPr lang="en-US" sz="1000" dirty="0"/>
          </a:p>
        </p:txBody>
      </p:sp>
      <p:sp>
        <p:nvSpPr>
          <p:cNvPr id="28" name="ImagePlaceholder_12"/>
          <p:cNvSpPr/>
          <p:nvPr/>
        </p:nvSpPr>
        <p:spPr>
          <a:xfrm>
            <a:off x="317500" y="863600"/>
            <a:ext cx="11557000" cy="28575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Malgun Gothic"/>
              </a:rPr>
              <a:t>🖼️ [SCR-CREATE-001] 밥상 차리기 &amp; 라이브 개설 모달 화면</a:t>
            </a:r>
          </a:p>
          <a:p>
            <a:pPr algn="ctr"/>
            <a:r>
              <a:rPr sz="1000" b="0">
                <a:solidFill>
                  <a:srgbClr val="64748B"/>
                </a:solidFill>
                <a:latin typeface="Malgun Gothic"/>
              </a:rPr>
              <a:t>(직접 캡처한 밥상 차리기 모달 스크린샷을 여기에 붙여넣으세요)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SCR-LIVE-001  라이브 합석 플레이어 &amp; 실시간 대화</a:t>
            </a:r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0">
                <a:solidFill>
                  <a:srgbClr val="2563EB"/>
                </a:solidFill>
                <a:latin typeface="Malgun Gothic"/>
              </a:rPr>
              <a:t>경로 / (Player)   ·   버전 v1.0</a:t>
            </a:r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614120"/>
              </p:ext>
            </p:extLst>
          </p:nvPr>
        </p:nvGraphicFramePr>
        <p:xfrm>
          <a:off x="4826000" y="863600"/>
          <a:ext cx="6675120" cy="1980695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NO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매핑 요구사항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UI 요소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인터랙션 / 이동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①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👑 영상 틀기 버튼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방장에게만 노출. 클릭 시 방장 전용 검색 및 영상 교체 패널 오픈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②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REQ-F-002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유튜브 검색창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키워드 입력 후 검색 시 실시간 검색 결과 카드 목록 노출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③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REQ-F-006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[▶️ 재생] 버튼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클릭 시 WebSocket HOST_CHANGE_VIDEO 전송하여 룸 전원 영상 교체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④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REQ-F-006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비디오 플레이어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입장 시 SYNC_VIDEO_STATE 타임스탬프로 점프하여 방장과 100% 동기화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452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⑤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REQ-F-007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실시간 채팅 영역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WebSocket 양방향 대화 및 방 진입 시 최근 50개 대화(CHAT_HISTORY) 복원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826000" y="4191000"/>
            <a:ext cx="7048500" cy="2032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016500" y="4343400"/>
            <a:ext cx="666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0F172A"/>
                </a:solidFill>
                <a:latin typeface="Malgun Gothic"/>
              </a:rPr>
              <a:t>예외 처리 및 비즈니스 정책</a:t>
            </a:r>
          </a:p>
        </p:txBody>
      </p:sp>
      <p:sp>
        <p:nvSpPr>
          <p:cNvPr id="12" name="Text 9"/>
          <p:cNvSpPr/>
          <p:nvPr/>
        </p:nvSpPr>
        <p:spPr>
          <a:xfrm>
            <a:off x="5016500" y="4699000"/>
            <a:ext cx="6667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sz="1000" b="0">
                <a:solidFill>
                  <a:srgbClr val="334155"/>
                </a:solidFill>
                <a:latin typeface="Malgun Gothic"/>
              </a:rPr>
              <a:t>방장 퇴장 시에도 my_host_room_ids로 권한 보존. WebSocket 끊김 시 15초 Ping 및 자동 재연결. 방 삭제 시 전원 알림 후 모달 종료.</a:t>
            </a:r>
          </a:p>
        </p:txBody>
      </p:sp>
      <p:sp>
        <p:nvSpPr>
          <p:cNvPr id="13" name="Shap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11480" y="6601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차린 밥상 산출물  ·  웹 서비스 개발 Mini Project</a:t>
            </a:r>
            <a:endParaRPr 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AA97C2-9539-6E8A-0840-5182BA5F1FD5}"/>
              </a:ext>
            </a:extLst>
          </p:cNvPr>
          <p:cNvSpPr txBox="1"/>
          <p:nvPr/>
        </p:nvSpPr>
        <p:spPr>
          <a:xfrm>
            <a:off x="794937" y="819150"/>
            <a:ext cx="3244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ko-KR" alt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497799-4CFA-043C-D437-54DB7C0BE0CB}"/>
              </a:ext>
            </a:extLst>
          </p:cNvPr>
          <p:cNvSpPr txBox="1"/>
          <p:nvPr/>
        </p:nvSpPr>
        <p:spPr>
          <a:xfrm>
            <a:off x="440977" y="1202510"/>
            <a:ext cx="30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ko-KR" alt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EBD6AF-4FAE-1469-259C-D2425FD44849}"/>
              </a:ext>
            </a:extLst>
          </p:cNvPr>
          <p:cNvSpPr txBox="1"/>
          <p:nvPr/>
        </p:nvSpPr>
        <p:spPr>
          <a:xfrm>
            <a:off x="452283" y="1517660"/>
            <a:ext cx="30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ko-KR" altLang="en-US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119A85-5942-0E9B-AC94-0ECA1D81B78C}"/>
              </a:ext>
            </a:extLst>
          </p:cNvPr>
          <p:cNvSpPr txBox="1"/>
          <p:nvPr/>
        </p:nvSpPr>
        <p:spPr>
          <a:xfrm>
            <a:off x="3588774" y="1212342"/>
            <a:ext cx="2949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ko-KR" alt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7B9556-8326-0BEE-9645-01BCF0F333D2}"/>
              </a:ext>
            </a:extLst>
          </p:cNvPr>
          <p:cNvSpPr txBox="1"/>
          <p:nvPr/>
        </p:nvSpPr>
        <p:spPr>
          <a:xfrm>
            <a:off x="499969" y="1977649"/>
            <a:ext cx="2949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ko-KR" alt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7A000A-2A50-62D5-F126-0A364F819901}"/>
              </a:ext>
            </a:extLst>
          </p:cNvPr>
          <p:cNvSpPr txBox="1"/>
          <p:nvPr/>
        </p:nvSpPr>
        <p:spPr>
          <a:xfrm>
            <a:off x="1145458" y="2982483"/>
            <a:ext cx="3146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</a:t>
            </a:r>
            <a:endParaRPr lang="ko-KR" altLang="en-US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42BC50-DECA-A268-2DA4-3BF0A37229D7}"/>
              </a:ext>
            </a:extLst>
          </p:cNvPr>
          <p:cNvSpPr txBox="1"/>
          <p:nvPr/>
        </p:nvSpPr>
        <p:spPr>
          <a:xfrm>
            <a:off x="3677267" y="2982483"/>
            <a:ext cx="3244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</a:t>
            </a:r>
            <a:endParaRPr lang="ko-KR" altLang="en-US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39BF9-8A24-919B-7EE2-F8A0CDDD1148}"/>
              </a:ext>
            </a:extLst>
          </p:cNvPr>
          <p:cNvSpPr txBox="1"/>
          <p:nvPr/>
        </p:nvSpPr>
        <p:spPr>
          <a:xfrm>
            <a:off x="3927987" y="3759723"/>
            <a:ext cx="30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</a:t>
            </a:r>
            <a:endParaRPr lang="ko-KR" altLang="en-US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5B67EEA-2C20-DFAA-4FBE-D14548E4088E}"/>
              </a:ext>
            </a:extLst>
          </p:cNvPr>
          <p:cNvSpPr txBox="1"/>
          <p:nvPr/>
        </p:nvSpPr>
        <p:spPr>
          <a:xfrm>
            <a:off x="1127809" y="4685738"/>
            <a:ext cx="2580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F404C0-CC33-5C07-D067-DB04B2AE4D51}"/>
              </a:ext>
            </a:extLst>
          </p:cNvPr>
          <p:cNvSpPr txBox="1"/>
          <p:nvPr/>
        </p:nvSpPr>
        <p:spPr>
          <a:xfrm>
            <a:off x="3625645" y="4682028"/>
            <a:ext cx="2580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</a:t>
            </a:r>
            <a:endParaRPr lang="ko-KR" altLang="en-US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A9EEE4-BCCC-7B5F-013B-D6891841CFA1}"/>
              </a:ext>
            </a:extLst>
          </p:cNvPr>
          <p:cNvSpPr txBox="1"/>
          <p:nvPr/>
        </p:nvSpPr>
        <p:spPr>
          <a:xfrm>
            <a:off x="350026" y="5627126"/>
            <a:ext cx="2580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⑪</a:t>
            </a:r>
            <a:endParaRPr lang="ko-KR" altLang="en-US" b="1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39FB03BD-2F44-8CC1-220C-B391B2F63BED}"/>
              </a:ext>
            </a:extLst>
          </p:cNvPr>
          <p:cNvSpPr/>
          <p:nvPr/>
        </p:nvSpPr>
        <p:spPr>
          <a:xfrm>
            <a:off x="10180015" y="6601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13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16</a:t>
            </a:r>
            <a:endParaRPr lang="en-US" sz="1000" dirty="0"/>
          </a:p>
        </p:txBody>
      </p:sp>
      <p:sp>
        <p:nvSpPr>
          <p:cNvPr id="45" name="ImagePlaceholder_13"/>
          <p:cNvSpPr/>
          <p:nvPr/>
        </p:nvSpPr>
        <p:spPr>
          <a:xfrm>
            <a:off x="317500" y="863600"/>
            <a:ext cx="4318000" cy="53340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Malgun Gothic"/>
              </a:rPr>
              <a:t>🖼️ [SCR-LIVE-001] 실시간 동기화 플레이어 &amp; 채팅 패널 화면</a:t>
            </a:r>
          </a:p>
          <a:p>
            <a:pPr algn="ctr"/>
            <a:r>
              <a:rPr sz="1000" b="0">
                <a:solidFill>
                  <a:srgbClr val="64748B"/>
                </a:solidFill>
                <a:latin typeface="Malgun Gothic"/>
              </a:rPr>
              <a:t>(직접 캡처한 라이브 합석 플레이어 스크린샷을 여기에 붙여넣으세요)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SCR-CREATE-002  영상 큐레이션 및 딥링크 라우팅</a:t>
            </a:r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0">
                <a:solidFill>
                  <a:srgbClr val="2563EB"/>
                </a:solidFill>
                <a:latin typeface="Malgun Gothic"/>
              </a:rPr>
              <a:t>경로 /playlists/create   ·   버전 v1.0</a:t>
            </a:r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843562"/>
              </p:ext>
            </p:extLst>
          </p:nvPr>
        </p:nvGraphicFramePr>
        <p:xfrm>
          <a:off x="4826000" y="863600"/>
          <a:ext cx="6675120" cy="1603568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NO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매핑 요구사항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UI 요소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인터랙션 / 이동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①②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제목 / 카테고리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15분 식사 맞춤 제목(200자) 및 식사 카테고리(점심/야식/간식) 지정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③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영상 순서 &amp; 러닝타임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영입된 영상들의 총 러닝타임 실시간 합산(초 단위) 및 카드 리스트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④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딥링크 라우팅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모바일 환경에서 YouTube/Netflix 앱 Intent Universal Link 라우팅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⑥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반찬 등록 저장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PostgreSQL DB 및 로컬스토리지 이중 저장 후 메인 피드 이동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17500" y="5435600"/>
            <a:ext cx="11557000" cy="952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82600" y="5511800"/>
            <a:ext cx="1117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0F172A"/>
                </a:solidFill>
                <a:latin typeface="Malgun Gothic"/>
              </a:rPr>
              <a:t>예외 처리 및 비즈니스 정책</a:t>
            </a:r>
          </a:p>
        </p:txBody>
      </p:sp>
      <p:sp>
        <p:nvSpPr>
          <p:cNvPr id="12" name="Text 9"/>
          <p:cNvSpPr/>
          <p:nvPr/>
        </p:nvSpPr>
        <p:spPr>
          <a:xfrm>
            <a:off x="482600" y="5791200"/>
            <a:ext cx="1117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sz="1000" b="0">
                <a:solidFill>
                  <a:srgbClr val="334155"/>
                </a:solidFill>
                <a:latin typeface="Malgun Gothic"/>
              </a:rPr>
              <a:t>최소 1개 이상 영상 필요. 비회원 접근 시 로그인 모달 유도. API 장애 시 클라이언트 로컬스토리지 Fallback 100% 저장 보장.</a:t>
            </a:r>
          </a:p>
        </p:txBody>
      </p:sp>
      <p:sp>
        <p:nvSpPr>
          <p:cNvPr id="13" name="Shap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11480" y="6601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차린 밥상 산출물  ·  웹 서비스 개발 Mini Project</a:t>
            </a:r>
            <a:endParaRPr 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4AFEC7-2019-CBCB-A7DB-35D68AEF3EB4}"/>
              </a:ext>
            </a:extLst>
          </p:cNvPr>
          <p:cNvSpPr txBox="1"/>
          <p:nvPr/>
        </p:nvSpPr>
        <p:spPr>
          <a:xfrm>
            <a:off x="1042219" y="2337941"/>
            <a:ext cx="30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ko-KR" alt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61E949-30D5-3411-F27D-224591686035}"/>
              </a:ext>
            </a:extLst>
          </p:cNvPr>
          <p:cNvSpPr txBox="1"/>
          <p:nvPr/>
        </p:nvSpPr>
        <p:spPr>
          <a:xfrm>
            <a:off x="1253367" y="2907150"/>
            <a:ext cx="2949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ko-KR" alt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914289-FE97-8FF2-92BB-C3C5750269A5}"/>
              </a:ext>
            </a:extLst>
          </p:cNvPr>
          <p:cNvSpPr txBox="1"/>
          <p:nvPr/>
        </p:nvSpPr>
        <p:spPr>
          <a:xfrm>
            <a:off x="3540103" y="2916982"/>
            <a:ext cx="30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ko-KR" altLang="en-US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FAE3B6-5B44-8C99-6634-2FE1321C75BF}"/>
              </a:ext>
            </a:extLst>
          </p:cNvPr>
          <p:cNvSpPr txBox="1"/>
          <p:nvPr/>
        </p:nvSpPr>
        <p:spPr>
          <a:xfrm>
            <a:off x="1110799" y="4101750"/>
            <a:ext cx="30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ko-KR" alt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24EDD8-75A5-4E43-420D-F0F66D5DDE9A}"/>
              </a:ext>
            </a:extLst>
          </p:cNvPr>
          <p:cNvSpPr txBox="1"/>
          <p:nvPr/>
        </p:nvSpPr>
        <p:spPr>
          <a:xfrm>
            <a:off x="3254967" y="4538779"/>
            <a:ext cx="2949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ko-KR" alt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82DEC2-092F-C080-52F0-D5FED54DB1C6}"/>
              </a:ext>
            </a:extLst>
          </p:cNvPr>
          <p:cNvSpPr txBox="1"/>
          <p:nvPr/>
        </p:nvSpPr>
        <p:spPr>
          <a:xfrm>
            <a:off x="3760841" y="4375922"/>
            <a:ext cx="2851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</a:t>
            </a:r>
            <a:endParaRPr lang="ko-KR" altLang="en-US" b="1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FD7185A4-8794-B35E-4832-D4D720A0CA52}"/>
              </a:ext>
            </a:extLst>
          </p:cNvPr>
          <p:cNvSpPr/>
          <p:nvPr/>
        </p:nvSpPr>
        <p:spPr>
          <a:xfrm>
            <a:off x="10180015" y="6601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14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16</a:t>
            </a:r>
            <a:endParaRPr lang="en-US" sz="1000" dirty="0"/>
          </a:p>
        </p:txBody>
      </p:sp>
      <p:sp>
        <p:nvSpPr>
          <p:cNvPr id="30" name="ImagePlaceholder_14"/>
          <p:cNvSpPr/>
          <p:nvPr/>
        </p:nvSpPr>
        <p:spPr>
          <a:xfrm>
            <a:off x="317500" y="863600"/>
            <a:ext cx="4318000" cy="43180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Malgun Gothic"/>
              </a:rPr>
              <a:t>🖼️ [SCR-CREATE-002] 15분 영상 큐레이션 등록 화면</a:t>
            </a:r>
          </a:p>
          <a:p>
            <a:pPr algn="ctr"/>
            <a:r>
              <a:rPr sz="1000" b="0">
                <a:solidFill>
                  <a:srgbClr val="64748B"/>
                </a:solidFill>
                <a:latin typeface="Malgun Gothic"/>
              </a:rPr>
              <a:t>(직접 캡처한 큐레이션 화면 스크린샷을 여기에 붙여넣으세요)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SCR-MY-001  내 보관함 (마이페이지)</a:t>
            </a:r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0">
                <a:solidFill>
                  <a:srgbClr val="2563EB"/>
                </a:solidFill>
                <a:latin typeface="Malgun Gothic"/>
              </a:rPr>
              <a:t>경로 /my   ·   버전 v1.0</a:t>
            </a:r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340907"/>
              </p:ext>
            </p:extLst>
          </p:nvPr>
        </p:nvGraphicFramePr>
        <p:xfrm>
          <a:off x="4826000" y="863600"/>
          <a:ext cx="6675120" cy="1007048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NO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매핑 요구사항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UI 요소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인터랙션 / 이동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①②③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프로필 &amp; 마스터 뱃지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👑 마스터(혼밥마스터)/일반 닉네임, 계정 이메일 정보 표시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④⑤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REQ-F-009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내 밥상 &amp; 라이브방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내가 차린 밥상 및 개설한 라이브 방 목록 동시 보관 및 원터치 삭제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17500" y="5435600"/>
            <a:ext cx="11557000" cy="952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82600" y="5511800"/>
            <a:ext cx="1117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0F172A"/>
                </a:solidFill>
                <a:latin typeface="Malgun Gothic"/>
              </a:rPr>
              <a:t>예외 처리 및 비즈니스 정책</a:t>
            </a:r>
          </a:p>
        </p:txBody>
      </p:sp>
      <p:sp>
        <p:nvSpPr>
          <p:cNvPr id="12" name="Text 9"/>
          <p:cNvSpPr/>
          <p:nvPr/>
        </p:nvSpPr>
        <p:spPr>
          <a:xfrm>
            <a:off x="482600" y="5791200"/>
            <a:ext cx="1117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sz="1000" b="0">
                <a:solidFill>
                  <a:srgbClr val="334155"/>
                </a:solidFill>
                <a:latin typeface="Malgun Gothic"/>
              </a:rPr>
              <a:t>비회원 접근 시 로그인 화면으로 리다이렉트. 밥상 삭제 시 내 보관함과 메인 라이브 피드에서 동시 영구 삭제.</a:t>
            </a:r>
          </a:p>
        </p:txBody>
      </p:sp>
      <p:sp>
        <p:nvSpPr>
          <p:cNvPr id="13" name="Shap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11480" y="6601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차린 밥상 산출물  ·  웹 서비스 개발 Mini Project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180015" y="6601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15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16</a:t>
            </a:r>
            <a:endParaRPr lang="en-US" altLang="ko-KR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DACAC2-8C8B-D3DE-0E4A-23BA435A0368}"/>
              </a:ext>
            </a:extLst>
          </p:cNvPr>
          <p:cNvSpPr txBox="1"/>
          <p:nvPr/>
        </p:nvSpPr>
        <p:spPr>
          <a:xfrm>
            <a:off x="1219987" y="2288619"/>
            <a:ext cx="30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ko-KR" alt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12ADE8-5B71-9B60-BEF5-48C88F75E7DF}"/>
              </a:ext>
            </a:extLst>
          </p:cNvPr>
          <p:cNvSpPr txBox="1"/>
          <p:nvPr/>
        </p:nvSpPr>
        <p:spPr>
          <a:xfrm>
            <a:off x="1143640" y="2959546"/>
            <a:ext cx="2753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ko-KR" alt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308F28-0966-B0ED-EAF4-289EFC4953FC}"/>
              </a:ext>
            </a:extLst>
          </p:cNvPr>
          <p:cNvSpPr txBox="1"/>
          <p:nvPr/>
        </p:nvSpPr>
        <p:spPr>
          <a:xfrm>
            <a:off x="3291393" y="3389709"/>
            <a:ext cx="30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ko-KR" altLang="en-US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46A100-FC55-14D2-197C-9A63CA2B7AC1}"/>
              </a:ext>
            </a:extLst>
          </p:cNvPr>
          <p:cNvSpPr txBox="1"/>
          <p:nvPr/>
        </p:nvSpPr>
        <p:spPr>
          <a:xfrm>
            <a:off x="1133807" y="3665162"/>
            <a:ext cx="2949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ko-KR" altLang="en-US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82C2CE-8AAF-D1F4-7229-E74AF72E09C4}"/>
              </a:ext>
            </a:extLst>
          </p:cNvPr>
          <p:cNvSpPr txBox="1"/>
          <p:nvPr/>
        </p:nvSpPr>
        <p:spPr>
          <a:xfrm>
            <a:off x="1372387" y="4092884"/>
            <a:ext cx="30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ko-KR" altLang="en-US" b="1" dirty="0"/>
          </a:p>
        </p:txBody>
      </p:sp>
      <p:sp>
        <p:nvSpPr>
          <p:cNvPr id="27" name="ImagePlaceholder_15"/>
          <p:cNvSpPr/>
          <p:nvPr/>
        </p:nvSpPr>
        <p:spPr>
          <a:xfrm>
            <a:off x="317500" y="863600"/>
            <a:ext cx="4318000" cy="43180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Malgun Gothic"/>
              </a:rPr>
              <a:t>🖼️ [SCR-MY-001] 내 보관함 (마이페이지) 화면</a:t>
            </a:r>
          </a:p>
          <a:p>
            <a:pPr algn="ctr"/>
            <a:r>
              <a:rPr sz="1000" b="0">
                <a:solidFill>
                  <a:srgbClr val="64748B"/>
                </a:solidFill>
                <a:latin typeface="Malgun Gothic"/>
              </a:rPr>
              <a:t>(직접 캡처한 내 보관함 스크린샷을 여기에 붙여넣으세요)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0F172A"/>
                </a:solidFill>
                <a:latin typeface="Malgun Gothic"/>
              </a:rPr>
              <a:t>SCR-ADMIN-001  👑 마스터 관리자 전체 삭제 권한</a:t>
            </a:r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0">
                <a:solidFill>
                  <a:srgbClr val="2563EB"/>
                </a:solidFill>
                <a:latin typeface="Malgun Gothic"/>
              </a:rPr>
              <a:t>경로 / (Master Mode)   ·   버전 v1.0</a:t>
            </a:r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063613"/>
              </p:ext>
            </p:extLst>
          </p:nvPr>
        </p:nvGraphicFramePr>
        <p:xfrm>
          <a:off x="4953000" y="3860800"/>
          <a:ext cx="6675120" cy="1384175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NO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매핑 요구사항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UI 요소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인터랙션 / 이동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①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REQ-F-010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👑 마스터 식별 뱃지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master@bapsang.com 로그인 시 상단 네비바에 👑 황금 마스터 뱃지 활성화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③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REQ-F-010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전체 삭제 버튼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모든 일반 유저가 개설한 밥상 및 라이브 방 카드에 🗑️ 삭제 버튼 노출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⑤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REQ-F-010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0F172A"/>
                          </a:solidFill>
                          <a:latin typeface="Malgun Gothic"/>
                        </a:rPr>
                        <a:t>원터치 멸실 삭제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334155"/>
                          </a:solidFill>
                          <a:latin typeface="Malgun Gothic"/>
                        </a:rPr>
                        <a:t>마스터 삭제 클릭 시 PostgreSQL DB 및 메모리에서 완전 삭제 및 브로드캐스트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452587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17500" y="5435600"/>
            <a:ext cx="11557000" cy="952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82600" y="5511800"/>
            <a:ext cx="1117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0F172A"/>
                </a:solidFill>
                <a:latin typeface="Malgun Gothic"/>
              </a:rPr>
              <a:t>예외 처리 및 비즈니스 정책</a:t>
            </a:r>
          </a:p>
        </p:txBody>
      </p:sp>
      <p:sp>
        <p:nvSpPr>
          <p:cNvPr id="12" name="Text 9"/>
          <p:cNvSpPr/>
          <p:nvPr/>
        </p:nvSpPr>
        <p:spPr>
          <a:xfrm>
            <a:off x="482600" y="5791200"/>
            <a:ext cx="1117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sz="1000" b="0">
                <a:solidFill>
                  <a:srgbClr val="334155"/>
                </a:solidFill>
                <a:latin typeface="Malgun Gothic"/>
              </a:rPr>
              <a:t>일반 유저는 타인의 밥상 삭제 불가 (403 Forbidden). 👑 마스터 권한 소지 시에만 전체 삭제 API(/playlists/{id}) 인가.</a:t>
            </a:r>
          </a:p>
        </p:txBody>
      </p:sp>
      <p:sp>
        <p:nvSpPr>
          <p:cNvPr id="13" name="Shap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11480" y="6601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차린 밥상 산출물  ·  웹 서비스 개발 Mini Project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180015" y="6601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16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</a:rPr>
              <a:t>16</a:t>
            </a:r>
            <a:endParaRPr 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E02B14-3FCA-F71D-56DF-F0375EFE19B0}"/>
              </a:ext>
            </a:extLst>
          </p:cNvPr>
          <p:cNvSpPr txBox="1"/>
          <p:nvPr/>
        </p:nvSpPr>
        <p:spPr>
          <a:xfrm>
            <a:off x="502920" y="1403868"/>
            <a:ext cx="2949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ko-KR" alt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BFE586-FA3D-0578-A433-06F819C6694D}"/>
              </a:ext>
            </a:extLst>
          </p:cNvPr>
          <p:cNvSpPr txBox="1"/>
          <p:nvPr/>
        </p:nvSpPr>
        <p:spPr>
          <a:xfrm>
            <a:off x="416397" y="4189735"/>
            <a:ext cx="2753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ko-KR" alt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D222BA-AD16-3CBE-33F4-B94F0BCF293C}"/>
              </a:ext>
            </a:extLst>
          </p:cNvPr>
          <p:cNvSpPr txBox="1"/>
          <p:nvPr/>
        </p:nvSpPr>
        <p:spPr>
          <a:xfrm>
            <a:off x="411480" y="4608714"/>
            <a:ext cx="2851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ko-KR" altLang="en-US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16A6F4-6433-C303-E183-80CEAB4767F3}"/>
              </a:ext>
            </a:extLst>
          </p:cNvPr>
          <p:cNvSpPr txBox="1"/>
          <p:nvPr/>
        </p:nvSpPr>
        <p:spPr>
          <a:xfrm>
            <a:off x="6302887" y="2501519"/>
            <a:ext cx="30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ko-KR" alt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8FDC19-04DD-C82B-A238-28C89D18A493}"/>
              </a:ext>
            </a:extLst>
          </p:cNvPr>
          <p:cNvSpPr txBox="1"/>
          <p:nvPr/>
        </p:nvSpPr>
        <p:spPr>
          <a:xfrm>
            <a:off x="6302887" y="2798699"/>
            <a:ext cx="30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ko-KR" altLang="en-US" b="1" dirty="0"/>
          </a:p>
        </p:txBody>
      </p:sp>
      <p:sp>
        <p:nvSpPr>
          <p:cNvPr id="28" name="ImagePlaceholder_16"/>
          <p:cNvSpPr/>
          <p:nvPr/>
        </p:nvSpPr>
        <p:spPr>
          <a:xfrm>
            <a:off x="317500" y="863600"/>
            <a:ext cx="4445000" cy="43180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Malgun Gothic"/>
              </a:rPr>
              <a:t>🖼️ [SCR-ADMIN-001] 👑 마스터 관리자 전체 삭제 권한 화면</a:t>
            </a:r>
          </a:p>
          <a:p>
            <a:pPr algn="ctr"/>
            <a:r>
              <a:rPr sz="1000" b="0">
                <a:solidFill>
                  <a:srgbClr val="64748B"/>
                </a:solidFill>
                <a:latin typeface="Malgun Gothic"/>
              </a:rPr>
              <a:t>(직접 캡처한 마스터 관리자 스크린샷을 여기에 붙여넣으세요)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2923</Words>
  <Application>Microsoft Macintosh PowerPoint</Application>
  <PresentationFormat>와이드스크린</PresentationFormat>
  <Paragraphs>714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ITDA Mini Project 산출물</dc:title>
  <dc:subject>프로젝트 기술서 · 데이터 모델링 · API 명세</dc:subject>
  <dc:creator>정순욱</dc:creator>
  <cp:lastModifiedBy>박세웅</cp:lastModifiedBy>
  <cp:revision>7</cp:revision>
  <dcterms:created xsi:type="dcterms:W3CDTF">2026-08-18T05:58:19Z</dcterms:created>
  <dcterms:modified xsi:type="dcterms:W3CDTF">2026-08-19T06:41:26Z</dcterms:modified>
</cp:coreProperties>
</file>